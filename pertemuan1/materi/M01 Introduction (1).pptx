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3" r:id="rId2"/>
    <p:sldId id="458" r:id="rId3"/>
    <p:sldId id="441" r:id="rId4"/>
    <p:sldId id="471" r:id="rId5"/>
    <p:sldId id="442" r:id="rId6"/>
    <p:sldId id="472" r:id="rId7"/>
    <p:sldId id="443" r:id="rId8"/>
    <p:sldId id="444" r:id="rId9"/>
    <p:sldId id="445" r:id="rId10"/>
    <p:sldId id="473" r:id="rId11"/>
    <p:sldId id="447" r:id="rId12"/>
    <p:sldId id="474" r:id="rId13"/>
    <p:sldId id="448" r:id="rId14"/>
    <p:sldId id="4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354BB3-1AE2-4F0A-A2B4-CAFADCEA52DD}" v="182" dt="2026-07-02T09:48:54.7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59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6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Nasucha" userId="1346f31b-a737-4b43-93e0-d502aa96fb32" providerId="ADAL" clId="{6CA37AF1-0D44-4291-9791-E8FB1D006563}"/>
    <pc:docChg chg="undo custSel delSld modSld">
      <pc:chgData name="Mohammad Nasucha" userId="1346f31b-a737-4b43-93e0-d502aa96fb32" providerId="ADAL" clId="{6CA37AF1-0D44-4291-9791-E8FB1D006563}" dt="2026-07-02T09:48:54.707" v="248" actId="207"/>
      <pc:docMkLst>
        <pc:docMk/>
      </pc:docMkLst>
      <pc:sldChg chg="modSp mod">
        <pc:chgData name="Mohammad Nasucha" userId="1346f31b-a737-4b43-93e0-d502aa96fb32" providerId="ADAL" clId="{6CA37AF1-0D44-4291-9791-E8FB1D006563}" dt="2026-07-02T09:44:05.423" v="39" actId="114"/>
        <pc:sldMkLst>
          <pc:docMk/>
          <pc:sldMk cId="3113719772" sldId="303"/>
        </pc:sldMkLst>
        <pc:spChg chg="mod">
          <ac:chgData name="Mohammad Nasucha" userId="1346f31b-a737-4b43-93e0-d502aa96fb32" providerId="ADAL" clId="{6CA37AF1-0D44-4291-9791-E8FB1D006563}" dt="2026-07-02T09:44:05.423" v="39" actId="114"/>
          <ac:spMkLst>
            <pc:docMk/>
            <pc:sldMk cId="3113719772" sldId="303"/>
            <ac:spMk id="13" creationId="{00000000-0000-0000-0000-000000000000}"/>
          </ac:spMkLst>
        </pc:spChg>
      </pc:sldChg>
      <pc:sldChg chg="del">
        <pc:chgData name="Mohammad Nasucha" userId="1346f31b-a737-4b43-93e0-d502aa96fb32" providerId="ADAL" clId="{6CA37AF1-0D44-4291-9791-E8FB1D006563}" dt="2026-07-02T09:44:56.899" v="40" actId="47"/>
        <pc:sldMkLst>
          <pc:docMk/>
          <pc:sldMk cId="3426101117" sldId="440"/>
        </pc:sldMkLst>
      </pc:sldChg>
      <pc:sldChg chg="modSp">
        <pc:chgData name="Mohammad Nasucha" userId="1346f31b-a737-4b43-93e0-d502aa96fb32" providerId="ADAL" clId="{6CA37AF1-0D44-4291-9791-E8FB1D006563}" dt="2026-07-02T09:46:30.460" v="184" actId="6549"/>
        <pc:sldMkLst>
          <pc:docMk/>
          <pc:sldMk cId="641961459" sldId="458"/>
        </pc:sldMkLst>
        <pc:spChg chg="mod">
          <ac:chgData name="Mohammad Nasucha" userId="1346f31b-a737-4b43-93e0-d502aa96fb32" providerId="ADAL" clId="{6CA37AF1-0D44-4291-9791-E8FB1D006563}" dt="2026-07-02T09:46:30.460" v="184" actId="6549"/>
          <ac:spMkLst>
            <pc:docMk/>
            <pc:sldMk cId="641961459" sldId="458"/>
            <ac:spMk id="4" creationId="{EC325C7A-4F8B-192A-65B0-FB12C51A8B2B}"/>
          </ac:spMkLst>
        </pc:spChg>
      </pc:sldChg>
      <pc:sldChg chg="del">
        <pc:chgData name="Mohammad Nasucha" userId="1346f31b-a737-4b43-93e0-d502aa96fb32" providerId="ADAL" clId="{6CA37AF1-0D44-4291-9791-E8FB1D006563}" dt="2026-07-02T09:44:56.899" v="40" actId="47"/>
        <pc:sldMkLst>
          <pc:docMk/>
          <pc:sldMk cId="2301973799" sldId="469"/>
        </pc:sldMkLst>
      </pc:sldChg>
      <pc:sldChg chg="del">
        <pc:chgData name="Mohammad Nasucha" userId="1346f31b-a737-4b43-93e0-d502aa96fb32" providerId="ADAL" clId="{6CA37AF1-0D44-4291-9791-E8FB1D006563}" dt="2026-07-02T09:44:56.899" v="40" actId="47"/>
        <pc:sldMkLst>
          <pc:docMk/>
          <pc:sldMk cId="3432499157" sldId="470"/>
        </pc:sldMkLst>
      </pc:sldChg>
      <pc:sldChg chg="modSp mod modAnim">
        <pc:chgData name="Mohammad Nasucha" userId="1346f31b-a737-4b43-93e0-d502aa96fb32" providerId="ADAL" clId="{6CA37AF1-0D44-4291-9791-E8FB1D006563}" dt="2026-07-02T09:47:19.358" v="207" actId="207"/>
        <pc:sldMkLst>
          <pc:docMk/>
          <pc:sldMk cId="103026644" sldId="471"/>
        </pc:sldMkLst>
        <pc:spChg chg="mod">
          <ac:chgData name="Mohammad Nasucha" userId="1346f31b-a737-4b43-93e0-d502aa96fb32" providerId="ADAL" clId="{6CA37AF1-0D44-4291-9791-E8FB1D006563}" dt="2026-07-02T09:47:19.358" v="207" actId="207"/>
          <ac:spMkLst>
            <pc:docMk/>
            <pc:sldMk cId="103026644" sldId="471"/>
            <ac:spMk id="4" creationId="{838AA4B2-EE2A-5629-FCD3-31F2D6445BDF}"/>
          </ac:spMkLst>
        </pc:spChg>
      </pc:sldChg>
      <pc:sldChg chg="modSp mod modAnim">
        <pc:chgData name="Mohammad Nasucha" userId="1346f31b-a737-4b43-93e0-d502aa96fb32" providerId="ADAL" clId="{6CA37AF1-0D44-4291-9791-E8FB1D006563}" dt="2026-07-02T09:47:50.245" v="210" actId="207"/>
        <pc:sldMkLst>
          <pc:docMk/>
          <pc:sldMk cId="3148730280" sldId="472"/>
        </pc:sldMkLst>
        <pc:spChg chg="mod">
          <ac:chgData name="Mohammad Nasucha" userId="1346f31b-a737-4b43-93e0-d502aa96fb32" providerId="ADAL" clId="{6CA37AF1-0D44-4291-9791-E8FB1D006563}" dt="2026-07-02T09:47:50.245" v="210" actId="207"/>
          <ac:spMkLst>
            <pc:docMk/>
            <pc:sldMk cId="3148730280" sldId="472"/>
            <ac:spMk id="4" creationId="{838AA4B2-EE2A-5629-FCD3-31F2D6445BDF}"/>
          </ac:spMkLst>
        </pc:spChg>
      </pc:sldChg>
      <pc:sldChg chg="modSp mod modAnim">
        <pc:chgData name="Mohammad Nasucha" userId="1346f31b-a737-4b43-93e0-d502aa96fb32" providerId="ADAL" clId="{6CA37AF1-0D44-4291-9791-E8FB1D006563}" dt="2026-07-02T09:48:17.247" v="213" actId="207"/>
        <pc:sldMkLst>
          <pc:docMk/>
          <pc:sldMk cId="1384182381" sldId="473"/>
        </pc:sldMkLst>
        <pc:spChg chg="mod">
          <ac:chgData name="Mohammad Nasucha" userId="1346f31b-a737-4b43-93e0-d502aa96fb32" providerId="ADAL" clId="{6CA37AF1-0D44-4291-9791-E8FB1D006563}" dt="2026-07-02T09:48:17.247" v="213" actId="207"/>
          <ac:spMkLst>
            <pc:docMk/>
            <pc:sldMk cId="1384182381" sldId="473"/>
            <ac:spMk id="4" creationId="{838AA4B2-EE2A-5629-FCD3-31F2D6445BDF}"/>
          </ac:spMkLst>
        </pc:spChg>
      </pc:sldChg>
      <pc:sldChg chg="modSp modAnim">
        <pc:chgData name="Mohammad Nasucha" userId="1346f31b-a737-4b43-93e0-d502aa96fb32" providerId="ADAL" clId="{6CA37AF1-0D44-4291-9791-E8FB1D006563}" dt="2026-07-02T09:48:54.707" v="248" actId="207"/>
        <pc:sldMkLst>
          <pc:docMk/>
          <pc:sldMk cId="3419818723" sldId="474"/>
        </pc:sldMkLst>
        <pc:spChg chg="mod">
          <ac:chgData name="Mohammad Nasucha" userId="1346f31b-a737-4b43-93e0-d502aa96fb32" providerId="ADAL" clId="{6CA37AF1-0D44-4291-9791-E8FB1D006563}" dt="2026-07-02T09:48:54.707" v="248" actId="207"/>
          <ac:spMkLst>
            <pc:docMk/>
            <pc:sldMk cId="3419818723" sldId="474"/>
            <ac:spMk id="4" creationId="{838AA4B2-EE2A-5629-FCD3-31F2D6445BD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65CA1-CDB9-46DB-A242-ED23E232B2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2A3049-6113-4A8F-8B63-598F091716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8EF66-2B3F-42F0-893F-EF9329049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B7C2-172C-447A-BBFE-942C6C5AEFC3}" type="datetimeFigureOut">
              <a:rPr lang="en-ID" smtClean="0"/>
              <a:t>02/07/2026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55071-48A5-41C5-97CD-65C9A4869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3D84F-BF76-4FE5-92F8-5453F053D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54523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C7C55-5599-48EB-95F5-D659894A4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491C9-E260-4794-8D97-49ECBBD39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A1F6E-BB71-4E3D-AA46-2FD54AF89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B7C2-172C-447A-BBFE-942C6C5AEFC3}" type="datetimeFigureOut">
              <a:rPr lang="en-ID" smtClean="0"/>
              <a:t>02/07/2026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A377E-4764-4116-B990-10A75B0CB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4A551-7583-461F-987A-4FCC3D063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87158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7DC10-1D05-4F7B-8A37-8C89E88F2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4F7CB4-92A2-48C9-96CA-68DF3D1C4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8D76F-187A-47F9-B65B-2AD4DC792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B7C2-172C-447A-BBFE-942C6C5AEFC3}" type="datetimeFigureOut">
              <a:rPr lang="en-ID" smtClean="0"/>
              <a:t>02/07/2026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AAAF9-F4D3-4836-AA64-A89D7C659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2CBA1-C9CF-41B9-B5B9-572A213CF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1179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8074F-A470-49D1-A962-4ED0889BA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EC0ED-F575-4583-B051-C780C7FB2B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28B05-A9B3-451E-9D42-B8498F7AD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EB844-9813-452A-9A43-5A8473036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B7C2-172C-447A-BBFE-942C6C5AEFC3}" type="datetimeFigureOut">
              <a:rPr lang="en-ID" smtClean="0"/>
              <a:t>02/07/2026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5415D-8B03-4918-8530-9BA54D8E9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E27E5-D265-4E9C-9A11-46FB6F5B0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49941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D29A6-45C8-4D95-8F16-623630445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5265E-AF88-4DFE-A2F8-52AC24648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38B191-7E29-453F-9627-E921DEBDF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967D3D-76B9-4329-B2F8-DE6E20E599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0F5C38-23F3-4B40-9A27-73870CD03C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90049F-D8E8-4BBB-9866-62AFF9065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B7C2-172C-447A-BBFE-942C6C5AEFC3}" type="datetimeFigureOut">
              <a:rPr lang="en-ID" smtClean="0"/>
              <a:t>02/07/2026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CB79C8-C8BB-4DE8-A6DA-7CB0D581E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2A9132-2AA9-4221-88ED-8D535CE25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87761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9A214-4844-42B3-A2E3-D4E6D76A7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2B67A8-2D5D-4CB5-B7A4-B14DD2468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B7C2-172C-447A-BBFE-942C6C5AEFC3}" type="datetimeFigureOut">
              <a:rPr lang="en-ID" smtClean="0"/>
              <a:t>02/07/2026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1A1146-6D9F-41A6-8C7C-E3FC5128F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A679E4-C9C9-497F-A2D6-0C9A0941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40387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760E09-51A1-4D19-8292-3A906169A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B7C2-172C-447A-BBFE-942C6C5AEFC3}" type="datetimeFigureOut">
              <a:rPr lang="en-ID" smtClean="0"/>
              <a:t>02/07/2026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7C91F5-E9F5-4731-9853-EDC620905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2E1886-F0F3-44C2-BA22-76FDC33AE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7635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A498B-9689-4220-B8B9-8B9034F2F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78B8D-726B-4FAF-811A-FD071AAE1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9D3C88-6D5A-4A53-931C-6454CF7F5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73263-10AD-473C-9BB0-8A22C5773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B7C2-172C-447A-BBFE-942C6C5AEFC3}" type="datetimeFigureOut">
              <a:rPr lang="en-ID" smtClean="0"/>
              <a:t>02/07/2026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9FB666-4D28-46EC-8EBD-DA372CAC4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9E09D0-EFD9-484F-AD23-3F48526B6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01355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24895-7FF3-42D2-9FF6-7EFAD6484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A6494D-D33A-4488-8EA9-A8BFA4CCE4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AD6C68-03BE-4A9D-BACE-3B26D27D20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684925-7B28-41B8-8759-A699E9934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B7C2-172C-447A-BBFE-942C6C5AEFC3}" type="datetimeFigureOut">
              <a:rPr lang="en-ID" smtClean="0"/>
              <a:t>02/07/2026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C698A-37EA-454D-BB8E-2C86531BB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649A4B-C72B-4F57-8D80-DE372A783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23413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8C3BB-93B9-4C13-AF95-F31572F61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026BEB-DFBF-4876-AA40-0411C8AEE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219A3-DBCB-41B9-B31B-B443828DE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B7C2-172C-447A-BBFE-942C6C5AEFC3}" type="datetimeFigureOut">
              <a:rPr lang="en-ID" smtClean="0"/>
              <a:t>02/07/2026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AF4A7-0607-4861-92BF-A490537B4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1A08C-A018-4303-B864-3D75A45C3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62888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BDC0CF-7EDB-4510-B68F-329D3EC068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55205F-2705-47AE-8C5A-CE45C9337F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D1EDA-2579-489B-AE65-E28B6BD79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FB7C2-172C-447A-BBFE-942C6C5AEFC3}" type="datetimeFigureOut">
              <a:rPr lang="en-ID" smtClean="0"/>
              <a:t>02/07/2026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8A1B8-E18C-45CA-A44B-72B7DCEBA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91A7C-72D0-4FB1-B006-33DF6EBF5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5382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034FF-0AED-40DF-AA16-51A55069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77E1B-8F5C-44AD-8561-B41809860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DB1A9-A369-4822-AA6F-3EC8B104FE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6FB7C2-172C-447A-BBFE-942C6C5AEFC3}" type="datetimeFigureOut">
              <a:rPr lang="en-ID" smtClean="0"/>
              <a:t>02/07/2026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14E5E-9263-4F6D-A560-CA530ADCD1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F66A0-68BE-44C2-B1FD-F13F17493E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D0DB37-F0FB-4029-9E4A-067BC6E6A9A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52837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w3schools.com/python/python_intro.asp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python/python_intro.asp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python/python_intro.asp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youtube.com/watch?v=AUiM1UaRCPc&amp;t=36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37002" y="4259813"/>
            <a:ext cx="62155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Mohammad Nasucha, S.T., M.Sc., Ph.D.</a:t>
            </a:r>
            <a:endParaRPr lang="id-ID" sz="2400" b="1" dirty="0"/>
          </a:p>
          <a:p>
            <a:pPr algn="ctr"/>
            <a:endParaRPr lang="id-ID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320659" y="5050621"/>
            <a:ext cx="4648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Program </a:t>
            </a:r>
            <a:r>
              <a:rPr lang="en-US" sz="1600" b="1" dirty="0" err="1"/>
              <a:t>Studi</a:t>
            </a:r>
            <a:r>
              <a:rPr lang="en-US" sz="1600" b="1" dirty="0"/>
              <a:t> </a:t>
            </a:r>
            <a:r>
              <a:rPr lang="en-US" sz="1600" b="1" dirty="0" err="1"/>
              <a:t>Teknik</a:t>
            </a:r>
            <a:r>
              <a:rPr lang="en-US" sz="1600" b="1" dirty="0"/>
              <a:t> </a:t>
            </a:r>
            <a:r>
              <a:rPr lang="en-US" sz="1600" b="1" dirty="0" err="1"/>
              <a:t>Informatika</a:t>
            </a:r>
            <a:endParaRPr lang="en-US" sz="1600" b="1" dirty="0"/>
          </a:p>
          <a:p>
            <a:pPr algn="ctr"/>
            <a:r>
              <a:rPr lang="en-US" sz="1600" b="1" dirty="0" err="1"/>
              <a:t>Universitas</a:t>
            </a:r>
            <a:r>
              <a:rPr lang="en-US" sz="1600" b="1" dirty="0"/>
              <a:t> Pembangunan Jaya</a:t>
            </a:r>
            <a:endParaRPr lang="id-ID" sz="1600" b="1" dirty="0"/>
          </a:p>
          <a:p>
            <a:pPr algn="ctr"/>
            <a:r>
              <a:rPr lang="en-US" sz="1600" b="1" dirty="0"/>
              <a:t>Jl. </a:t>
            </a:r>
            <a:r>
              <a:rPr lang="en-US" sz="1600" b="1" dirty="0" err="1"/>
              <a:t>Cendrawasih</a:t>
            </a:r>
            <a:r>
              <a:rPr lang="en-US" sz="1600" b="1" dirty="0"/>
              <a:t>, </a:t>
            </a:r>
            <a:r>
              <a:rPr lang="en-US" sz="1600" b="1" dirty="0" err="1"/>
              <a:t>Sawah</a:t>
            </a:r>
            <a:r>
              <a:rPr lang="en-US" sz="1600" b="1" dirty="0"/>
              <a:t> </a:t>
            </a:r>
            <a:r>
              <a:rPr lang="en-US" sz="1600" b="1" dirty="0" err="1"/>
              <a:t>Baru</a:t>
            </a:r>
            <a:r>
              <a:rPr lang="en-US" sz="1600" b="1" dirty="0"/>
              <a:t>, </a:t>
            </a:r>
            <a:r>
              <a:rPr lang="en-US" sz="1600" b="1" dirty="0" err="1"/>
              <a:t>Bintaro</a:t>
            </a:r>
            <a:r>
              <a:rPr lang="en-US" sz="1600" b="1" dirty="0"/>
              <a:t> Jaya</a:t>
            </a:r>
          </a:p>
          <a:p>
            <a:pPr algn="ctr"/>
            <a:r>
              <a:rPr lang="en-US" sz="1600" b="1" dirty="0"/>
              <a:t>Tangerang Selatan</a:t>
            </a:r>
            <a:endParaRPr lang="id-ID" sz="1600" b="1" dirty="0"/>
          </a:p>
        </p:txBody>
      </p:sp>
      <p:sp>
        <p:nvSpPr>
          <p:cNvPr id="13" name="TextBox 12"/>
          <p:cNvSpPr txBox="1"/>
          <p:nvPr/>
        </p:nvSpPr>
        <p:spPr>
          <a:xfrm flipH="1">
            <a:off x="707225" y="627685"/>
            <a:ext cx="98750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Applied Pattern Recognition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D47666-9379-4BEE-9E25-DCD10A19355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251264" y="5205744"/>
            <a:ext cx="1685925" cy="149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719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C325C7A-4F8B-192A-65B0-FB12C51A8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16" y="818066"/>
            <a:ext cx="10269184" cy="42463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M01 Introduction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What is This Course About?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Scope of This Course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About Python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Preparing Python and Its IDE</a:t>
            </a:r>
          </a:p>
        </p:txBody>
      </p:sp>
    </p:spTree>
    <p:extLst>
      <p:ext uri="{BB962C8B-B14F-4D97-AF65-F5344CB8AC3E}">
        <p14:creationId xmlns:p14="http://schemas.microsoft.com/office/powerpoint/2010/main" val="641961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"/>
            <a:ext cx="7460294" cy="6385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What is this course about?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2171580-1F4F-44D0-97B2-7E35B44C3FA6}"/>
              </a:ext>
            </a:extLst>
          </p:cNvPr>
          <p:cNvSpPr txBox="1">
            <a:spLocks/>
          </p:cNvSpPr>
          <p:nvPr/>
        </p:nvSpPr>
        <p:spPr>
          <a:xfrm>
            <a:off x="457200" y="1098803"/>
            <a:ext cx="10823028" cy="55643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This is a course on pattern recognition. Here “pattern” means the pattern that we can find in various types of data. Examples of data that may contain patterns:</a:t>
            </a:r>
          </a:p>
          <a:p>
            <a:pPr marL="0" indent="0" algn="just">
              <a:buNone/>
            </a:pPr>
            <a:endParaRPr lang="en-US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538163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images, whether it is a single image or a streaming (video)  </a:t>
            </a:r>
          </a:p>
          <a:p>
            <a:pPr marL="538163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sound, including voice</a:t>
            </a:r>
          </a:p>
          <a:p>
            <a:pPr marL="538163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data of sun ray intensity in a city in a day, a month, or a year</a:t>
            </a:r>
          </a:p>
          <a:p>
            <a:pPr marL="538163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data of rice production in 12 months</a:t>
            </a:r>
          </a:p>
          <a:p>
            <a:pPr marL="538163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data of water consumption in a city in 12 months</a:t>
            </a:r>
          </a:p>
          <a:p>
            <a:pPr marL="538163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data of the amount of transaction (in USD) in Amazon in 12 months,</a:t>
            </a:r>
          </a:p>
          <a:p>
            <a:pPr marL="538163" indent="-273050" algn="just"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etc. </a:t>
            </a:r>
          </a:p>
        </p:txBody>
      </p:sp>
    </p:spTree>
    <p:extLst>
      <p:ext uri="{BB962C8B-B14F-4D97-AF65-F5344CB8AC3E}">
        <p14:creationId xmlns:p14="http://schemas.microsoft.com/office/powerpoint/2010/main" val="4022331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8AA4B2-EE2A-5629-FCD3-31F2D644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16" y="818066"/>
            <a:ext cx="10269184" cy="42463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M01 Introduction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2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What is This Course About?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Scope of This Course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About Python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Preparing Python and Its IDE</a:t>
            </a:r>
          </a:p>
        </p:txBody>
      </p:sp>
    </p:spTree>
    <p:extLst>
      <p:ext uri="{BB962C8B-B14F-4D97-AF65-F5344CB8AC3E}">
        <p14:creationId xmlns:p14="http://schemas.microsoft.com/office/powerpoint/2010/main" val="103026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234462"/>
            <a:ext cx="7460294" cy="6385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Scope of This Course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2171580-1F4F-44D0-97B2-7E35B44C3FA6}"/>
              </a:ext>
            </a:extLst>
          </p:cNvPr>
          <p:cNvSpPr txBox="1">
            <a:spLocks/>
          </p:cNvSpPr>
          <p:nvPr/>
        </p:nvSpPr>
        <p:spPr>
          <a:xfrm>
            <a:off x="457200" y="1476083"/>
            <a:ext cx="10823028" cy="45992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Introduction (this session)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Root Mean Squared Error (RMSE)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Approximating Data Pattern Using Linear Regression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Approximating Data Pattern Using Polynomial Model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Bayes’ Theorem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Classifying A Number of Patterns Using the k-nearest neighbors (KNN) Algorithm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Theory and Concept of Neural Networks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Classifying A Number of Patterns Using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2526445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8AA4B2-EE2A-5629-FCD3-31F2D644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16" y="818066"/>
            <a:ext cx="10269184" cy="42463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8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M01 Introduction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40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What is This Course About?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Scope of This Course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About Python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Preparing Python and Its IDE</a:t>
            </a:r>
          </a:p>
        </p:txBody>
      </p:sp>
    </p:spTree>
    <p:extLst>
      <p:ext uri="{BB962C8B-B14F-4D97-AF65-F5344CB8AC3E}">
        <p14:creationId xmlns:p14="http://schemas.microsoft.com/office/powerpoint/2010/main" val="3148730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"/>
            <a:ext cx="7460294" cy="6385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What is Python? (1)</a:t>
            </a:r>
            <a:endParaRPr lang="id-ID" sz="40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2171580-1F4F-44D0-97B2-7E35B44C3FA6}"/>
              </a:ext>
            </a:extLst>
          </p:cNvPr>
          <p:cNvSpPr txBox="1">
            <a:spLocks/>
          </p:cNvSpPr>
          <p:nvPr/>
        </p:nvSpPr>
        <p:spPr>
          <a:xfrm>
            <a:off x="457200" y="970466"/>
            <a:ext cx="10823028" cy="55643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80E7CB-EFB0-486E-BE89-ABCE42AF1E08}"/>
              </a:ext>
            </a:extLst>
          </p:cNvPr>
          <p:cNvSpPr txBox="1"/>
          <p:nvPr/>
        </p:nvSpPr>
        <p:spPr>
          <a:xfrm>
            <a:off x="457200" y="809221"/>
            <a:ext cx="10988566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What is Python? [1] </a:t>
            </a:r>
            <a:r>
              <a:rPr lang="en-US" sz="2000" b="1" dirty="0">
                <a:solidFill>
                  <a:schemeClr val="bg1">
                    <a:lumMod val="85000"/>
                  </a:schemeClr>
                </a:solidFill>
              </a:rPr>
              <a:t>1 point</a:t>
            </a:r>
          </a:p>
          <a:p>
            <a:r>
              <a:rPr lang="en-US" sz="2000" dirty="0"/>
              <a:t>Python is a popular programming language created by Guido van Rossum, and released in 1991.</a:t>
            </a:r>
          </a:p>
          <a:p>
            <a:endParaRPr lang="en-US" sz="2000" dirty="0"/>
          </a:p>
          <a:p>
            <a:r>
              <a:rPr lang="en-US" sz="2000" b="1" dirty="0"/>
              <a:t>What is it usually used for? [1] </a:t>
            </a:r>
            <a:r>
              <a:rPr lang="en-US" sz="2000" b="1" dirty="0">
                <a:solidFill>
                  <a:schemeClr val="bg1">
                    <a:lumMod val="85000"/>
                  </a:schemeClr>
                </a:solidFill>
              </a:rPr>
              <a:t>4 points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web development (server-side),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software development,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mathematics,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system scripting</a:t>
            </a:r>
          </a:p>
          <a:p>
            <a:endParaRPr lang="en-US" sz="2000" dirty="0"/>
          </a:p>
          <a:p>
            <a:r>
              <a:rPr lang="en-US" sz="2000" b="1" dirty="0"/>
              <a:t>What can Python do? [1] </a:t>
            </a:r>
            <a:r>
              <a:rPr lang="en-US" sz="2000" b="1" dirty="0">
                <a:solidFill>
                  <a:schemeClr val="bg1">
                    <a:lumMod val="85000"/>
                  </a:schemeClr>
                </a:solidFill>
              </a:rPr>
              <a:t>6 points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Python can be used on a server to create web applications.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Python can be used alongside software to create workflows.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Python can connect to database systems. It can also read and modify files.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Python can be used to handle big data and perform complex mathematics.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Python can be used to produce a GUI-featured application.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Python can be used for rapid prototyping, or for production-ready software development.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endParaRPr lang="en-US" sz="1200" dirty="0"/>
          </a:p>
          <a:p>
            <a:r>
              <a:rPr lang="en-US" sz="1200" dirty="0"/>
              <a:t>[1] Python Introduction. </a:t>
            </a:r>
            <a:r>
              <a:rPr lang="en-ID" sz="1200" dirty="0">
                <a:hlinkClick r:id="rId2"/>
              </a:rPr>
              <a:t>https://www.w3schools.com/python/python_intro.asp</a:t>
            </a:r>
            <a:r>
              <a:rPr lang="en-ID" sz="1200" dirty="0"/>
              <a:t> </a:t>
            </a:r>
            <a:r>
              <a:rPr lang="en-ID" sz="1200" dirty="0" err="1"/>
              <a:t>accesed</a:t>
            </a:r>
            <a:r>
              <a:rPr lang="en-ID" sz="1200" dirty="0"/>
              <a:t> 22 July 2020.</a:t>
            </a:r>
          </a:p>
        </p:txBody>
      </p:sp>
      <p:pic>
        <p:nvPicPr>
          <p:cNvPr id="1026" name="Picture 2" descr="Python | Vecta Symbols">
            <a:extLst>
              <a:ext uri="{FF2B5EF4-FFF2-40B4-BE49-F238E27FC236}">
                <a16:creationId xmlns:a16="http://schemas.microsoft.com/office/drawing/2014/main" id="{BCFB2130-C7C7-479A-BE98-CF4E41A2F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15" y="1972426"/>
            <a:ext cx="1456574" cy="1456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27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"/>
            <a:ext cx="7460294" cy="6385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What is Python? (2)</a:t>
            </a:r>
            <a:endParaRPr lang="id-ID" sz="40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2171580-1F4F-44D0-97B2-7E35B44C3FA6}"/>
              </a:ext>
            </a:extLst>
          </p:cNvPr>
          <p:cNvSpPr txBox="1">
            <a:spLocks/>
          </p:cNvSpPr>
          <p:nvPr/>
        </p:nvSpPr>
        <p:spPr>
          <a:xfrm>
            <a:off x="457200" y="970466"/>
            <a:ext cx="10823028" cy="55643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80E7CB-EFB0-486E-BE89-ABCE42AF1E08}"/>
              </a:ext>
            </a:extLst>
          </p:cNvPr>
          <p:cNvSpPr txBox="1"/>
          <p:nvPr/>
        </p:nvSpPr>
        <p:spPr>
          <a:xfrm>
            <a:off x="457200" y="809221"/>
            <a:ext cx="10988566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Reasons of Preference to Python may include [1]: </a:t>
            </a:r>
            <a:r>
              <a:rPr lang="en-US" sz="2800" b="1" dirty="0">
                <a:solidFill>
                  <a:schemeClr val="bg1">
                    <a:lumMod val="85000"/>
                  </a:schemeClr>
                </a:solidFill>
              </a:rPr>
              <a:t>5 points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Python works on different platforms (Windows, Mac, Linux, Raspberry Pi, </a:t>
            </a:r>
            <a:r>
              <a:rPr lang="en-US" sz="2800" dirty="0" err="1"/>
              <a:t>etc</a:t>
            </a:r>
            <a:r>
              <a:rPr lang="en-US" sz="2800" dirty="0"/>
              <a:t>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Python syntax is similar to the English language.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Python syntax allows developers to write programs with fewer lines than some others do.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Python runs on an interpreter system, meaning that code can be executed as soon as it is written. This means that prototyping can be quick.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800" dirty="0"/>
              <a:t>Python facilitates both procedural / functional and object-orientated programming paradigms.</a:t>
            </a:r>
            <a:endParaRPr lang="en-US" sz="2800" b="1" dirty="0"/>
          </a:p>
          <a:p>
            <a:endParaRPr lang="en-US" sz="3200" dirty="0"/>
          </a:p>
          <a:p>
            <a:endParaRPr lang="en-US" sz="1200" dirty="0"/>
          </a:p>
          <a:p>
            <a:r>
              <a:rPr lang="en-US" sz="1200" dirty="0"/>
              <a:t>[1] Python Introduction. </a:t>
            </a:r>
            <a:r>
              <a:rPr lang="en-ID" sz="1200" dirty="0">
                <a:hlinkClick r:id="rId2"/>
              </a:rPr>
              <a:t>https://www.w3schools.com/python/python_intro.asp</a:t>
            </a:r>
            <a:r>
              <a:rPr lang="en-ID" sz="1200" dirty="0"/>
              <a:t> </a:t>
            </a:r>
            <a:r>
              <a:rPr lang="en-ID" sz="1200" dirty="0" err="1"/>
              <a:t>accesed</a:t>
            </a:r>
            <a:r>
              <a:rPr lang="en-ID" sz="1200" dirty="0"/>
              <a:t> 22 July 2020.</a:t>
            </a:r>
          </a:p>
        </p:txBody>
      </p:sp>
    </p:spTree>
    <p:extLst>
      <p:ext uri="{BB962C8B-B14F-4D97-AF65-F5344CB8AC3E}">
        <p14:creationId xmlns:p14="http://schemas.microsoft.com/office/powerpoint/2010/main" val="553953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"/>
            <a:ext cx="7460294" cy="6385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What is Python? (3)</a:t>
            </a:r>
            <a:endParaRPr lang="id-ID" sz="40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2171580-1F4F-44D0-97B2-7E35B44C3FA6}"/>
              </a:ext>
            </a:extLst>
          </p:cNvPr>
          <p:cNvSpPr txBox="1">
            <a:spLocks/>
          </p:cNvSpPr>
          <p:nvPr/>
        </p:nvSpPr>
        <p:spPr>
          <a:xfrm>
            <a:off x="457200" y="970466"/>
            <a:ext cx="10823028" cy="55643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80E7CB-EFB0-486E-BE89-ABCE42AF1E08}"/>
              </a:ext>
            </a:extLst>
          </p:cNvPr>
          <p:cNvSpPr txBox="1"/>
          <p:nvPr/>
        </p:nvSpPr>
        <p:spPr>
          <a:xfrm>
            <a:off x="457200" y="809221"/>
            <a:ext cx="1098856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Python Syntax Style: </a:t>
            </a:r>
            <a:r>
              <a:rPr lang="en-US" sz="2200" b="1" dirty="0">
                <a:solidFill>
                  <a:schemeClr val="bg1">
                    <a:lumMod val="85000"/>
                  </a:schemeClr>
                </a:solidFill>
              </a:rPr>
              <a:t>3 points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Python syntax was designed to be easily understood by human.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Python does not use a semicolon neither parentheses to end a command. Changing the line means completion of a command.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Python does not use curly-brackets for conditions, loops, functions and classes. Python relies on indentation.</a:t>
            </a:r>
          </a:p>
          <a:p>
            <a:endParaRPr lang="en-US" sz="2200" dirty="0"/>
          </a:p>
          <a:p>
            <a:r>
              <a:rPr lang="en-US" sz="2200" b="1" dirty="0"/>
              <a:t>Good to Know [1]: </a:t>
            </a:r>
            <a:r>
              <a:rPr lang="en-US" sz="2200" b="1" dirty="0">
                <a:solidFill>
                  <a:schemeClr val="bg1">
                    <a:lumMod val="85000"/>
                  </a:schemeClr>
                </a:solidFill>
              </a:rPr>
              <a:t>2 points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accent1"/>
                </a:solidFill>
              </a:rPr>
              <a:t>The latest version of Python is Python 3. However, Python 2 is still quite popular.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accent1"/>
                </a:solidFill>
              </a:rPr>
              <a:t>You can write Python in a text editor or an Integrated Development Environment, such as </a:t>
            </a:r>
            <a:r>
              <a:rPr lang="en-US" sz="2200" dirty="0" err="1">
                <a:solidFill>
                  <a:schemeClr val="accent1"/>
                </a:solidFill>
              </a:rPr>
              <a:t>PhyCharm</a:t>
            </a:r>
            <a:r>
              <a:rPr lang="en-US" sz="2200" dirty="0">
                <a:solidFill>
                  <a:schemeClr val="accent1"/>
                </a:solidFill>
              </a:rPr>
              <a:t>, </a:t>
            </a:r>
            <a:r>
              <a:rPr lang="en-US" sz="2200" dirty="0" err="1">
                <a:solidFill>
                  <a:schemeClr val="accent1"/>
                </a:solidFill>
              </a:rPr>
              <a:t>Thonny</a:t>
            </a:r>
            <a:r>
              <a:rPr lang="en-US" sz="2200" dirty="0">
                <a:solidFill>
                  <a:schemeClr val="accent1"/>
                </a:solidFill>
              </a:rPr>
              <a:t>, </a:t>
            </a:r>
            <a:r>
              <a:rPr lang="en-US" sz="2200" dirty="0" err="1">
                <a:solidFill>
                  <a:schemeClr val="accent1"/>
                </a:solidFill>
              </a:rPr>
              <a:t>Netbeans</a:t>
            </a:r>
            <a:r>
              <a:rPr lang="en-US" sz="2200" dirty="0">
                <a:solidFill>
                  <a:schemeClr val="accent1"/>
                </a:solidFill>
              </a:rPr>
              <a:t> or Eclipse. IDE are useful when managing many Python files.</a:t>
            </a:r>
          </a:p>
          <a:p>
            <a:endParaRPr lang="en-US" sz="2200" dirty="0"/>
          </a:p>
          <a:p>
            <a:endParaRPr lang="en-US" sz="2000" dirty="0"/>
          </a:p>
          <a:p>
            <a:r>
              <a:rPr lang="en-US" sz="1200" dirty="0"/>
              <a:t>[1] Python Introduction. </a:t>
            </a:r>
            <a:r>
              <a:rPr lang="en-ID" sz="1200" dirty="0">
                <a:hlinkClick r:id="rId2"/>
              </a:rPr>
              <a:t>https://www.w3schools.com/python/python_intro.asp</a:t>
            </a:r>
            <a:r>
              <a:rPr lang="en-ID" sz="1200" dirty="0"/>
              <a:t> </a:t>
            </a:r>
            <a:r>
              <a:rPr lang="en-ID" sz="1200" dirty="0" err="1"/>
              <a:t>accesed</a:t>
            </a:r>
            <a:r>
              <a:rPr lang="en-ID" sz="1200" dirty="0"/>
              <a:t> 22 July 2020.</a:t>
            </a:r>
          </a:p>
        </p:txBody>
      </p:sp>
    </p:spTree>
    <p:extLst>
      <p:ext uri="{BB962C8B-B14F-4D97-AF65-F5344CB8AC3E}">
        <p14:creationId xmlns:p14="http://schemas.microsoft.com/office/powerpoint/2010/main" val="1346560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8AA4B2-EE2A-5629-FCD3-31F2D644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16" y="818066"/>
            <a:ext cx="10269184" cy="42463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8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M01 Introduction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40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What is This Course About?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Scope of This Course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About Python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Preparing Python and Its IDE</a:t>
            </a:r>
          </a:p>
        </p:txBody>
      </p:sp>
    </p:spTree>
    <p:extLst>
      <p:ext uri="{BB962C8B-B14F-4D97-AF65-F5344CB8AC3E}">
        <p14:creationId xmlns:p14="http://schemas.microsoft.com/office/powerpoint/2010/main" val="1384182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203191"/>
            <a:ext cx="11161986" cy="6385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Preparing the Python and Its Development Environment</a:t>
            </a:r>
            <a:endParaRPr lang="id-ID" sz="36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2171580-1F4F-44D0-97B2-7E35B44C3FA6}"/>
              </a:ext>
            </a:extLst>
          </p:cNvPr>
          <p:cNvSpPr txBox="1">
            <a:spLocks/>
          </p:cNvSpPr>
          <p:nvPr/>
        </p:nvSpPr>
        <p:spPr>
          <a:xfrm>
            <a:off x="457200" y="1173656"/>
            <a:ext cx="10823028" cy="55643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80E7CB-EFB0-486E-BE89-ABCE42AF1E08}"/>
              </a:ext>
            </a:extLst>
          </p:cNvPr>
          <p:cNvSpPr txBox="1"/>
          <p:nvPr/>
        </p:nvSpPr>
        <p:spPr>
          <a:xfrm>
            <a:off x="457200" y="988965"/>
            <a:ext cx="1098856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To prepare  the Python and Its Development Environment, follow the instruction discussed in </a:t>
            </a:r>
            <a:r>
              <a:rPr lang="en-ID" sz="2400" dirty="0">
                <a:hlinkClick r:id="rId2"/>
              </a:rPr>
              <a:t>https://www.youtube.com/watch?v=AUiM1UaRCPc&amp;t=36s</a:t>
            </a:r>
            <a:r>
              <a:rPr lang="en-ID" sz="2400" dirty="0"/>
              <a:t>.</a:t>
            </a:r>
          </a:p>
          <a:p>
            <a:endParaRPr lang="en-ID" sz="2400" dirty="0"/>
          </a:p>
          <a:p>
            <a:endParaRPr lang="en-ID" sz="2400" dirty="0"/>
          </a:p>
          <a:p>
            <a:r>
              <a:rPr lang="en-ID" sz="2400" dirty="0"/>
              <a:t>That basically includes the installation of Python and PyCharm.</a:t>
            </a:r>
          </a:p>
          <a:p>
            <a:endParaRPr lang="en-ID" sz="2400" dirty="0"/>
          </a:p>
          <a:p>
            <a:endParaRPr lang="en-ID" sz="2400" dirty="0"/>
          </a:p>
          <a:p>
            <a:r>
              <a:rPr lang="en-ID" sz="2400" dirty="0"/>
              <a:t>When installing please choose “Install for All Users”.</a:t>
            </a:r>
            <a:endParaRPr lang="en-US" sz="2400" dirty="0"/>
          </a:p>
        </p:txBody>
      </p:sp>
      <p:pic>
        <p:nvPicPr>
          <p:cNvPr id="1026" name="Picture 2" descr="PyCharm - Wikipedia bahasa Indonesia, ensiklopedia bebas">
            <a:extLst>
              <a:ext uri="{FF2B5EF4-FFF2-40B4-BE49-F238E27FC236}">
                <a16:creationId xmlns:a16="http://schemas.microsoft.com/office/drawing/2014/main" id="{4DB519A3-AF2B-420E-92C3-1EA46209D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4588" y="4936019"/>
            <a:ext cx="1122979" cy="1122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Python | Vecta Symbols">
            <a:extLst>
              <a:ext uri="{FF2B5EF4-FFF2-40B4-BE49-F238E27FC236}">
                <a16:creationId xmlns:a16="http://schemas.microsoft.com/office/drawing/2014/main" id="{BD25854F-18A9-4E6B-94EA-7EA48BB79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7225" y="4967746"/>
            <a:ext cx="1122978" cy="1122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9904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8AA4B2-EE2A-5629-FCD3-31F2D644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16" y="818066"/>
            <a:ext cx="10269184" cy="481682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8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M01 Introduction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40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What is This Course About?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Scope of This Course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About Python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Preparing Python and Its IDE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How to Install Packages / Library</a:t>
            </a:r>
          </a:p>
        </p:txBody>
      </p:sp>
    </p:spTree>
    <p:extLst>
      <p:ext uri="{BB962C8B-B14F-4D97-AF65-F5344CB8AC3E}">
        <p14:creationId xmlns:p14="http://schemas.microsoft.com/office/powerpoint/2010/main" val="3419818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"/>
            <a:ext cx="11161986" cy="6385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rgbClr val="00B0F0"/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Installing Package(s)</a:t>
            </a:r>
            <a:endParaRPr lang="id-ID" sz="3600" dirty="0">
              <a:solidFill>
                <a:srgbClr val="00B0F0"/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80E7CB-EFB0-486E-BE89-ABCE42AF1E08}"/>
              </a:ext>
            </a:extLst>
          </p:cNvPr>
          <p:cNvSpPr txBox="1"/>
          <p:nvPr/>
        </p:nvSpPr>
        <p:spPr>
          <a:xfrm>
            <a:off x="543910" y="801200"/>
            <a:ext cx="96348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5113" indent="-265113">
              <a:buFont typeface="Wingdings" panose="05000000000000000000" pitchFamily="2" charset="2"/>
              <a:buChar char="§"/>
            </a:pPr>
            <a:r>
              <a:rPr lang="en-US" sz="1600" dirty="0" err="1"/>
              <a:t>Melalui</a:t>
            </a:r>
            <a:r>
              <a:rPr lang="en-US" sz="1600" dirty="0"/>
              <a:t> windows command prompt:</a:t>
            </a:r>
          </a:p>
          <a:p>
            <a:pPr marL="265113" lvl="1"/>
            <a:r>
              <a:rPr lang="en-US" sz="1600" dirty="0"/>
              <a:t>C:\users\MN\ pip install </a:t>
            </a:r>
            <a:r>
              <a:rPr lang="en-US" sz="1600" dirty="0" err="1"/>
              <a:t>numPy</a:t>
            </a:r>
            <a:endParaRPr lang="en-US" sz="1600" dirty="0"/>
          </a:p>
          <a:p>
            <a:pPr marL="265113" lvl="1"/>
            <a:r>
              <a:rPr lang="en-US" sz="1600" dirty="0"/>
              <a:t>C:\users\MN\ pip install matplotlib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A31EB3-EEA9-4551-9CB0-C91AA512D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626" y="2006005"/>
            <a:ext cx="10775538" cy="1627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25C26F-9A66-43B7-A865-2C4655C9F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254" y="3633905"/>
            <a:ext cx="10775910" cy="268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18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2171580-1F4F-44D0-97B2-7E35B44C3FA6}"/>
              </a:ext>
            </a:extLst>
          </p:cNvPr>
          <p:cNvSpPr txBox="1">
            <a:spLocks/>
          </p:cNvSpPr>
          <p:nvPr/>
        </p:nvSpPr>
        <p:spPr>
          <a:xfrm>
            <a:off x="457200" y="970466"/>
            <a:ext cx="10823028" cy="55643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80E7CB-EFB0-486E-BE89-ABCE42AF1E08}"/>
              </a:ext>
            </a:extLst>
          </p:cNvPr>
          <p:cNvSpPr txBox="1"/>
          <p:nvPr/>
        </p:nvSpPr>
        <p:spPr>
          <a:xfrm>
            <a:off x="1100301" y="1901028"/>
            <a:ext cx="99913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3200" dirty="0" err="1"/>
              <a:t>Terima</a:t>
            </a:r>
            <a:r>
              <a:rPr lang="en-US" altLang="ja-JP" sz="3200" dirty="0"/>
              <a:t> Kasih</a:t>
            </a:r>
          </a:p>
        </p:txBody>
      </p:sp>
    </p:spTree>
    <p:extLst>
      <p:ext uri="{BB962C8B-B14F-4D97-AF65-F5344CB8AC3E}">
        <p14:creationId xmlns:p14="http://schemas.microsoft.com/office/powerpoint/2010/main" val="361273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3888</TotalTime>
  <Words>836</Words>
  <Application>Microsoft Office PowerPoint</Application>
  <PresentationFormat>Widescreen</PresentationFormat>
  <Paragraphs>116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Mohammad Nasucha</dc:creator>
  <cp:lastModifiedBy>Mohammad Nasucha</cp:lastModifiedBy>
  <cp:revision>78</cp:revision>
  <dcterms:created xsi:type="dcterms:W3CDTF">2020-07-22T03:16:03Z</dcterms:created>
  <dcterms:modified xsi:type="dcterms:W3CDTF">2026-07-02T09:49:00Z</dcterms:modified>
</cp:coreProperties>
</file>
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440" r:id="rId3"/>
    <p:sldId id="469" r:id="rId4"/>
    <p:sldId id="475" r:id="rId5"/>
    <p:sldId id="470" r:id="rId6"/>
    <p:sldId id="476" r:id="rId7"/>
    <p:sldId id="477" r:id="rId8"/>
    <p:sldId id="478" r:id="rId9"/>
    <p:sldId id="482" r:id="rId10"/>
    <p:sldId id="481" r:id="rId11"/>
    <p:sldId id="479" r:id="rId12"/>
    <p:sldId id="480" r:id="rId13"/>
    <p:sldId id="483" r:id="rId14"/>
    <p:sldId id="4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Nasucha" userId="1346f31b-a737-4b43-93e0-d502aa96fb32" providerId="ADAL" clId="{6CA37AF1-0D44-4291-9791-E8FB1D006563}"/>
    <pc:docChg chg="modSld">
      <pc:chgData name="Mohammad Nasucha" userId="1346f31b-a737-4b43-93e0-d502aa96fb32" providerId="ADAL" clId="{6CA37AF1-0D44-4291-9791-E8FB1D006563}" dt="2026-07-02T09:51:02.925" v="10" actId="20577"/>
      <pc:docMkLst>
        <pc:docMk/>
      </pc:docMkLst>
      <pc:sldChg chg="modSp mod">
        <pc:chgData name="Mohammad Nasucha" userId="1346f31b-a737-4b43-93e0-d502aa96fb32" providerId="ADAL" clId="{6CA37AF1-0D44-4291-9791-E8FB1D006563}" dt="2026-07-02T09:50:48.075" v="9" actId="114"/>
        <pc:sldMkLst>
          <pc:docMk/>
          <pc:sldMk cId="3113719772" sldId="303"/>
        </pc:sldMkLst>
        <pc:spChg chg="mod">
          <ac:chgData name="Mohammad Nasucha" userId="1346f31b-a737-4b43-93e0-d502aa96fb32" providerId="ADAL" clId="{6CA37AF1-0D44-4291-9791-E8FB1D006563}" dt="2026-07-02T09:50:48.075" v="9" actId="114"/>
          <ac:spMkLst>
            <pc:docMk/>
            <pc:sldMk cId="3113719772" sldId="303"/>
            <ac:spMk id="13" creationId="{00000000-0000-0000-0000-000000000000}"/>
          </ac:spMkLst>
        </pc:spChg>
      </pc:sldChg>
      <pc:sldChg chg="modSp mod">
        <pc:chgData name="Mohammad Nasucha" userId="1346f31b-a737-4b43-93e0-d502aa96fb32" providerId="ADAL" clId="{6CA37AF1-0D44-4291-9791-E8FB1D006563}" dt="2026-07-02T09:51:02.925" v="10" actId="20577"/>
        <pc:sldMkLst>
          <pc:docMk/>
          <pc:sldMk cId="3426101117" sldId="440"/>
        </pc:sldMkLst>
        <pc:spChg chg="mod">
          <ac:chgData name="Mohammad Nasucha" userId="1346f31b-a737-4b43-93e0-d502aa96fb32" providerId="ADAL" clId="{6CA37AF1-0D44-4291-9791-E8FB1D006563}" dt="2026-07-02T09:51:02.925" v="10" actId="20577"/>
          <ac:spMkLst>
            <pc:docMk/>
            <pc:sldMk cId="3426101117" sldId="440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5CA1-CDB9-46DB-A242-ED23E232B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A3049-6113-4A8F-8B63-598F09171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8EF66-2B3F-42F0-893F-EF932904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5071-48A5-41C5-97CD-65C9A486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D84F-BF76-4FE5-92F8-5453F053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452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7C55-5599-48EB-95F5-D659894A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491C9-E260-4794-8D97-49ECBBD39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A1F6E-BB71-4E3D-AA46-2FD54AF8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377E-4764-4116-B990-10A75B0C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4A551-7583-461F-987A-4FCC3D06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715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DC10-1D05-4F7B-8A37-8C89E88F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F7CB4-92A2-48C9-96CA-68DF3D1C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8D76F-187A-47F9-B65B-2AD4DC79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AAAF9-F4D3-4836-AA64-A89D7C65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CBA1-C9CF-41B9-B5B9-572A213C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1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074F-A470-49D1-A962-4ED0889B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C0ED-F575-4583-B051-C780C7FB2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28B05-A9B3-451E-9D42-B8498F7A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844-9813-452A-9A43-5A847303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415D-8B03-4918-8530-9BA54D8E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E27E5-D265-4E9C-9A11-46FB6F5B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994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29A6-45C8-4D95-8F16-62363044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5265E-AF88-4DFE-A2F8-52AC24648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8B191-7E29-453F-9627-E921DEBDF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67D3D-76B9-4329-B2F8-DE6E20E59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F5C38-23F3-4B40-9A27-73870CD03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0049F-D8E8-4BBB-9866-62AFF906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B79C8-C8BB-4DE8-A6DA-7CB0D581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A9132-2AA9-4221-88ED-8D535CE2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776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A214-4844-42B3-A2E3-D4E6D76A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B67A8-2D5D-4CB5-B7A4-B14DD246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A1146-6D9F-41A6-8C7C-E3FC5128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679E4-C9C9-497F-A2D6-0C9A0941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038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60E09-51A1-4D19-8292-3A906169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C91F5-E9F5-4731-9853-EDC62090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E1886-F0F3-44C2-BA22-76FDC33A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63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498B-9689-4220-B8B9-8B9034F2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8B8D-726B-4FAF-811A-FD071AAE1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D3C88-6D5A-4A53-931C-6454CF7F5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73263-10AD-473C-9BB0-8A22C577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FB666-4D28-46EC-8EBD-DA372CAC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E09D0-EFD9-484F-AD23-3F48526B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135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4895-7FF3-42D2-9FF6-7EFAD648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6494D-D33A-4488-8EA9-A8BFA4CCE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D6C68-03BE-4A9D-BACE-3B26D27D2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84925-7B28-41B8-8759-A699E993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C698A-37EA-454D-BB8E-2C86531B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49A4B-C72B-4F57-8D80-DE372A78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3413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C3BB-93B9-4C13-AF95-F31572F6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26BEB-DFBF-4876-AA40-0411C8AEE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219A3-DBCB-41B9-B31B-B443828D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AF4A7-0607-4861-92BF-A490537B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1A08C-A018-4303-B864-3D75A45C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288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C0CF-7EDB-4510-B68F-329D3EC06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5205F-2705-47AE-8C5A-CE45C9337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D1EDA-2579-489B-AE65-E28B6BD7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8A1B8-E18C-45CA-A44B-72B7DCEB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91A7C-72D0-4FB1-B006-33DF6EBF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5382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034FF-0AED-40DF-AA16-51A55069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7E1B-8F5C-44AD-8561-B41809860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B1A9-A369-4822-AA6F-3EC8B104F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14E5E-9263-4F6D-A560-CA530ADCD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66A0-68BE-44C2-B1FD-F13F17493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283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37002" y="4259813"/>
            <a:ext cx="6215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Mohammad Nasucha, S.T., M.Sc., Ph.D.</a:t>
            </a:r>
            <a:endParaRPr lang="id-ID" sz="2400" b="1" dirty="0"/>
          </a:p>
          <a:p>
            <a:pPr algn="ctr"/>
            <a:endParaRPr lang="id-ID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20659" y="5050621"/>
            <a:ext cx="4648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Program </a:t>
            </a:r>
            <a:r>
              <a:rPr lang="en-US" sz="1600" b="1" dirty="0" err="1"/>
              <a:t>Studi</a:t>
            </a:r>
            <a:r>
              <a:rPr lang="en-US" sz="1600" b="1" dirty="0"/>
              <a:t> </a:t>
            </a:r>
            <a:r>
              <a:rPr lang="en-US" sz="1600" b="1" dirty="0" err="1"/>
              <a:t>Teknik</a:t>
            </a:r>
            <a:r>
              <a:rPr lang="en-US" sz="1600" b="1" dirty="0"/>
              <a:t> </a:t>
            </a:r>
            <a:r>
              <a:rPr lang="en-US" sz="1600" b="1" dirty="0" err="1"/>
              <a:t>Informatika</a:t>
            </a:r>
            <a:endParaRPr lang="en-US" sz="1600" b="1" dirty="0"/>
          </a:p>
          <a:p>
            <a:pPr algn="ctr"/>
            <a:r>
              <a:rPr lang="en-US" sz="1600" b="1" dirty="0" err="1"/>
              <a:t>Universitas</a:t>
            </a:r>
            <a:r>
              <a:rPr lang="en-US" sz="1600" b="1" dirty="0"/>
              <a:t> Pembangunan Jaya</a:t>
            </a:r>
            <a:endParaRPr lang="id-ID" sz="1600" b="1" dirty="0"/>
          </a:p>
          <a:p>
            <a:pPr algn="ctr"/>
            <a:r>
              <a:rPr lang="en-US" sz="1600" b="1" dirty="0"/>
              <a:t>Jl. </a:t>
            </a:r>
            <a:r>
              <a:rPr lang="en-US" sz="1600" b="1" dirty="0" err="1"/>
              <a:t>Cendrawasih</a:t>
            </a:r>
            <a:r>
              <a:rPr lang="en-US" sz="1600" b="1" dirty="0"/>
              <a:t>, </a:t>
            </a:r>
            <a:r>
              <a:rPr lang="en-US" sz="1600" b="1" dirty="0" err="1"/>
              <a:t>Sawah</a:t>
            </a:r>
            <a:r>
              <a:rPr lang="en-US" sz="1600" b="1" dirty="0"/>
              <a:t> </a:t>
            </a:r>
            <a:r>
              <a:rPr lang="en-US" sz="1600" b="1" dirty="0" err="1"/>
              <a:t>Baru</a:t>
            </a:r>
            <a:r>
              <a:rPr lang="en-US" sz="1600" b="1" dirty="0"/>
              <a:t>, </a:t>
            </a:r>
            <a:r>
              <a:rPr lang="en-US" sz="1600" b="1" dirty="0" err="1"/>
              <a:t>Bintaro</a:t>
            </a:r>
            <a:r>
              <a:rPr lang="en-US" sz="1600" b="1" dirty="0"/>
              <a:t> Jaya</a:t>
            </a:r>
          </a:p>
          <a:p>
            <a:pPr algn="ctr"/>
            <a:r>
              <a:rPr lang="en-US" sz="1600" b="1" dirty="0"/>
              <a:t>Tangerang Selatan</a:t>
            </a:r>
            <a:endParaRPr lang="id-ID" sz="1600" b="1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707225" y="627685"/>
            <a:ext cx="9875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Applied Pattern Recognition</a:t>
            </a:r>
            <a:endParaRPr lang="en-US" sz="6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D47666-9379-4BEE-9E25-DCD10A1935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51264" y="5205744"/>
            <a:ext cx="1685925" cy="149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1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M02 Root Mean Squared Error</a:t>
            </a: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10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M02 Root Mean Squared Error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Mengapa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pada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Berbagai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97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M02 Root Mean Squared Error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Mengapa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pada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Berbagai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02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54442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Mengapa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  <a:endParaRPr lang="en-US" sz="4000" b="1" i="1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297287"/>
            <a:ext cx="10823028" cy="51194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root mean squared error, di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terminologi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error lain,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untuk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mengetahui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seberapa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besar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selisih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suatu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algoritma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atau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model dan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Ingat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bahwa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“error”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berarti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“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selisih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”.</a:t>
            </a:r>
          </a:p>
          <a:p>
            <a:pPr marL="0" indent="0" algn="just">
              <a:buNone/>
            </a:pP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Contoh</a:t>
            </a: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 RMSE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model A dengan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adalah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0.3451.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 RMSE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model B dengan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adalah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0.4789.</a:t>
            </a:r>
          </a:p>
          <a:p>
            <a:pPr algn="just">
              <a:buFontTx/>
              <a:buChar char="-"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9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54442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Mengapa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  <a:endParaRPr lang="en-US" sz="4000" b="1" i="1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297287"/>
            <a:ext cx="10823028" cy="51194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root mean squared error, di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terminologi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error lain,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untuk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mengetahui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seberapa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besar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selisih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suatu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algoritma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atau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model dan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pada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suatu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Jika pada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suatu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pemecahan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masalah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atas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suatu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model A dengan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adalah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0.3451, dan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model B dengan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adalah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0.4789</a:t>
            </a:r>
          </a:p>
          <a:p>
            <a:pPr marL="0" indent="0" algn="just">
              <a:buNone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bisa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Anda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simpulkan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672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54442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Mengapa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  <a:endParaRPr lang="en-US" sz="4000" b="1" i="1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297287"/>
            <a:ext cx="10823028" cy="51194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Jika pada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suatu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pemecahan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masalah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atas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suatu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model A dengan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adalah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0.3451, dan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antara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output model B dengan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nilai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numerik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diharapkan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adalah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0.4789</a:t>
            </a:r>
          </a:p>
          <a:p>
            <a:pPr marL="0" indent="0" algn="just">
              <a:buNone/>
            </a:pP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Maka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dapat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disimpulkan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bahwa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pemecahan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masalah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atas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tersebut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menggunakan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model A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menghasilkan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akurasi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lebih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baik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dibandingkan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pemecahan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masalah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atas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sama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menggunakan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model B.</a:t>
            </a:r>
          </a:p>
          <a:p>
            <a:pPr marL="0" indent="0" algn="just">
              <a:buNone/>
            </a:pP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Pemilihan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model /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metode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/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algoritma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dengan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prinsip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di atas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biasa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disebut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sebagai</a:t>
            </a: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b="1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least-squares technique</a:t>
            </a:r>
            <a:r>
              <a:rPr lang="en-US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atau</a:t>
            </a:r>
            <a:r>
              <a:rPr lang="en-US" sz="2400" i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b="1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least-squares method.</a:t>
            </a:r>
            <a:endParaRPr lang="en-US" sz="2400" b="1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14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M02 Root Mean Squared Error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Mengapa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Rumus RMSE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pada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Berbagai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954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54442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Rumus RMSE</a:t>
            </a:r>
            <a:endParaRPr lang="en-US" sz="4000" b="1" i="1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171580-1F4F-44D0-97B2-7E35B44C3F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297287"/>
                <a:ext cx="10823028" cy="51194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0" dirty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0" dirty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 dirty="0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i="1" dirty="0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i="0" dirty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 dirty="0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di mana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y</a:t>
                </a:r>
                <a:r>
                  <a:rPr lang="en-US" sz="2400" baseline="-250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’ 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adalah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nilai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hasil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dari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komputasi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dengan model A,</a:t>
                </a:r>
              </a:p>
              <a:p>
                <a:pPr marL="0" indent="0" algn="just">
                  <a:buNone/>
                </a:pP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yi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 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adalah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nilai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yang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diharapkan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,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I    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adalah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banyaknya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data,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i   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adalah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indeks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(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nomor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urut</a:t>
                </a: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) data.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171580-1F4F-44D0-97B2-7E35B44C3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97287"/>
                <a:ext cx="10823028" cy="5119416"/>
              </a:xfrm>
              <a:prstGeom prst="rect">
                <a:avLst/>
              </a:prstGeom>
              <a:blipFill>
                <a:blip r:embed="rId2"/>
                <a:stretch>
                  <a:fillRect l="-845" t="-2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125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M02 Root Mean Squared Error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Mengapa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Rumus RMSE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pada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Berbagai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180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54442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pada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Berbagai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4000" b="1" i="1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297287"/>
            <a:ext cx="10823028" cy="51194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951A5D-EF32-16A0-30B1-13A5E6CBC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095335"/>
              </p:ext>
            </p:extLst>
          </p:nvPr>
        </p:nvGraphicFramePr>
        <p:xfrm>
          <a:off x="568958" y="1403479"/>
          <a:ext cx="753342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85">
                  <a:extLst>
                    <a:ext uri="{9D8B030D-6E8A-4147-A177-3AD203B41FA5}">
                      <a16:colId xmlns:a16="http://schemas.microsoft.com/office/drawing/2014/main" val="1711789877"/>
                    </a:ext>
                  </a:extLst>
                </a:gridCol>
                <a:gridCol w="1789043">
                  <a:extLst>
                    <a:ext uri="{9D8B030D-6E8A-4147-A177-3AD203B41FA5}">
                      <a16:colId xmlns:a16="http://schemas.microsoft.com/office/drawing/2014/main" val="818159207"/>
                    </a:ext>
                  </a:extLst>
                </a:gridCol>
                <a:gridCol w="1765190">
                  <a:extLst>
                    <a:ext uri="{9D8B030D-6E8A-4147-A177-3AD203B41FA5}">
                      <a16:colId xmlns:a16="http://schemas.microsoft.com/office/drawing/2014/main" val="1631408147"/>
                    </a:ext>
                  </a:extLst>
                </a:gridCol>
                <a:gridCol w="2154802">
                  <a:extLst>
                    <a:ext uri="{9D8B030D-6E8A-4147-A177-3AD203B41FA5}">
                      <a16:colId xmlns:a16="http://schemas.microsoft.com/office/drawing/2014/main" val="273330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 Model 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Output Model 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 Model 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Nilai yang </a:t>
                      </a:r>
                      <a:r>
                        <a:rPr lang="en-US" dirty="0" err="1"/>
                        <a:t>Diharapkan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26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r>
                        <a:rPr lang="en-ID" dirty="0"/>
                        <a:t>,23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ID" dirty="0"/>
                        <a:t>,23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ID" dirty="0"/>
                        <a:t>,21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ID" dirty="0"/>
                        <a:t>,23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83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0,01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0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4,34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2,34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3,32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3,34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7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5,45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3,45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4,43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4,45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2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4,56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5,54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5,56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1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7,67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5,67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6,65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6,67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34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2,23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0,23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7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7,78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5,78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6,65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6,78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19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9,89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7,89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8,76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8,89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16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8,90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8,90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9,87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9,90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86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8,78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6,78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7,76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7,78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49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0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54442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pada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Berbagai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4000" b="1" i="1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951A5D-EF32-16A0-30B1-13A5E6CBC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725492"/>
              </p:ext>
            </p:extLst>
          </p:nvPr>
        </p:nvGraphicFramePr>
        <p:xfrm>
          <a:off x="568958" y="1244459"/>
          <a:ext cx="3398498" cy="545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3">
                  <a:extLst>
                    <a:ext uri="{9D8B030D-6E8A-4147-A177-3AD203B41FA5}">
                      <a16:colId xmlns:a16="http://schemas.microsoft.com/office/drawing/2014/main" val="1711789877"/>
                    </a:ext>
                  </a:extLst>
                </a:gridCol>
                <a:gridCol w="946205">
                  <a:extLst>
                    <a:ext uri="{9D8B030D-6E8A-4147-A177-3AD203B41FA5}">
                      <a16:colId xmlns:a16="http://schemas.microsoft.com/office/drawing/2014/main" val="273330738"/>
                    </a:ext>
                  </a:extLst>
                </a:gridCol>
                <a:gridCol w="1613870">
                  <a:extLst>
                    <a:ext uri="{9D8B030D-6E8A-4147-A177-3AD203B41FA5}">
                      <a16:colId xmlns:a16="http://schemas.microsoft.com/office/drawing/2014/main" val="2020361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Output</a:t>
                      </a:r>
                    </a:p>
                    <a:p>
                      <a:pPr algn="ctr"/>
                      <a:r>
                        <a:rPr lang="en-US" sz="1200" dirty="0"/>
                        <a:t>Model A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Nilai yang</a:t>
                      </a:r>
                    </a:p>
                    <a:p>
                      <a:pPr algn="ctr"/>
                      <a:r>
                        <a:rPr lang="en-US" sz="1200" dirty="0" err="1"/>
                        <a:t>Diharapkan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Squared Error (SE)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26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r>
                        <a:rPr lang="en-ID" sz="1200" dirty="0"/>
                        <a:t>,23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ID" sz="1200" dirty="0"/>
                        <a:t>,23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(4,23-2,23)</a:t>
                      </a:r>
                      <a:r>
                        <a:rPr lang="en-US" sz="1200" baseline="30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83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1,01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0,01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0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4,34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3,34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7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5,45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4,45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2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6,56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5,56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1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7,67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6,67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34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2,23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1,23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7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19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9,89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8,89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16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8,90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9,90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86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4904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Mean Squared Error (MSE)</a:t>
                      </a: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Rata-</a:t>
                      </a:r>
                      <a:r>
                        <a:rPr lang="en-US" sz="1200" dirty="0" err="1"/>
                        <a:t>ratakan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angkaSE</a:t>
                      </a:r>
                      <a:r>
                        <a:rPr lang="en-US" sz="1200" dirty="0"/>
                        <a:t> pada </a:t>
                      </a:r>
                      <a:r>
                        <a:rPr lang="en-US" sz="1200" dirty="0" err="1"/>
                        <a:t>seluruh</a:t>
                      </a:r>
                      <a:r>
                        <a:rPr lang="en-US" sz="1200" dirty="0"/>
                        <a:t> baris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5073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Root Mean Squared Error (RMSE)</a:t>
                      </a: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F0"/>
                          </a:solidFill>
                        </a:rPr>
                        <a:t>Akarkan</a:t>
                      </a:r>
                      <a:endParaRPr lang="en-ID" sz="12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14813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31D155-E387-0A64-B89A-97FF67146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11044"/>
              </p:ext>
            </p:extLst>
          </p:nvPr>
        </p:nvGraphicFramePr>
        <p:xfrm>
          <a:off x="4189927" y="1244459"/>
          <a:ext cx="3475129" cy="545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715">
                  <a:extLst>
                    <a:ext uri="{9D8B030D-6E8A-4147-A177-3AD203B41FA5}">
                      <a16:colId xmlns:a16="http://schemas.microsoft.com/office/drawing/2014/main" val="818159207"/>
                    </a:ext>
                  </a:extLst>
                </a:gridCol>
                <a:gridCol w="1049287">
                  <a:extLst>
                    <a:ext uri="{9D8B030D-6E8A-4147-A177-3AD203B41FA5}">
                      <a16:colId xmlns:a16="http://schemas.microsoft.com/office/drawing/2014/main" val="273330738"/>
                    </a:ext>
                  </a:extLst>
                </a:gridCol>
                <a:gridCol w="1548127">
                  <a:extLst>
                    <a:ext uri="{9D8B030D-6E8A-4147-A177-3AD203B41FA5}">
                      <a16:colId xmlns:a16="http://schemas.microsoft.com/office/drawing/2014/main" val="3294115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Output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Model B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Nilai yang</a:t>
                      </a:r>
                    </a:p>
                    <a:p>
                      <a:pPr algn="ctr"/>
                      <a:r>
                        <a:rPr lang="en-US" sz="1200" dirty="0" err="1"/>
                        <a:t>Diharapkan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Squared Error (SE)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26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r>
                        <a:rPr lang="en-ID" sz="1200" dirty="0"/>
                        <a:t>,23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ID" sz="1200" dirty="0"/>
                        <a:t>,23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(1,23-2,23)</a:t>
                      </a:r>
                      <a:r>
                        <a:rPr lang="en-US" sz="1200" baseline="30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83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1,01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0,01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0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2,34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3,34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7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3,45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4,45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2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4,56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5,56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1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5,67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6,67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34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0,23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1,23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7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19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7,89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8,89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16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8,90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9,90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86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4904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Mean Squared Error (MSE)</a:t>
                      </a: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Rata-</a:t>
                      </a:r>
                      <a:r>
                        <a:rPr lang="en-US" sz="1200" dirty="0" err="1"/>
                        <a:t>ratakan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angka</a:t>
                      </a:r>
                      <a:r>
                        <a:rPr lang="en-US" sz="1200" dirty="0"/>
                        <a:t> SE pada </a:t>
                      </a:r>
                      <a:r>
                        <a:rPr lang="en-US" sz="1200" dirty="0" err="1"/>
                        <a:t>seluruh</a:t>
                      </a:r>
                      <a:r>
                        <a:rPr lang="en-US" sz="1200" dirty="0"/>
                        <a:t> baris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7207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Root Mean Squared Error (RMSE)</a:t>
                      </a: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F0"/>
                          </a:solidFill>
                        </a:rPr>
                        <a:t>Akarkan</a:t>
                      </a:r>
                      <a:endParaRPr lang="en-ID" sz="12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84484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A6C627-6FA6-CC9C-F0F5-DCE4FAC08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471567"/>
              </p:ext>
            </p:extLst>
          </p:nvPr>
        </p:nvGraphicFramePr>
        <p:xfrm>
          <a:off x="8054509" y="1244459"/>
          <a:ext cx="3475129" cy="545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938">
                  <a:extLst>
                    <a:ext uri="{9D8B030D-6E8A-4147-A177-3AD203B41FA5}">
                      <a16:colId xmlns:a16="http://schemas.microsoft.com/office/drawing/2014/main" val="1631408147"/>
                    </a:ext>
                  </a:extLst>
                </a:gridCol>
                <a:gridCol w="1055306">
                  <a:extLst>
                    <a:ext uri="{9D8B030D-6E8A-4147-A177-3AD203B41FA5}">
                      <a16:colId xmlns:a16="http://schemas.microsoft.com/office/drawing/2014/main" val="273330738"/>
                    </a:ext>
                  </a:extLst>
                </a:gridCol>
                <a:gridCol w="1567885">
                  <a:extLst>
                    <a:ext uri="{9D8B030D-6E8A-4147-A177-3AD203B41FA5}">
                      <a16:colId xmlns:a16="http://schemas.microsoft.com/office/drawing/2014/main" val="2071955104"/>
                    </a:ext>
                  </a:extLst>
                </a:gridCol>
              </a:tblGrid>
              <a:tr h="4411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Output </a:t>
                      </a:r>
                    </a:p>
                    <a:p>
                      <a:pPr algn="ctr"/>
                      <a:r>
                        <a:rPr lang="en-US" sz="1200" dirty="0"/>
                        <a:t>Model C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Nilai yang </a:t>
                      </a:r>
                    </a:p>
                    <a:p>
                      <a:pPr algn="ctr"/>
                      <a:r>
                        <a:rPr lang="en-US" sz="1200" dirty="0" err="1"/>
                        <a:t>Diharapkan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Squared Error (SE)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26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ID" sz="1200" dirty="0"/>
                        <a:t>,21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ID" sz="1200" dirty="0"/>
                        <a:t>,23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(2,21-2,23)</a:t>
                      </a:r>
                      <a:r>
                        <a:rPr lang="en-US" sz="1200" baseline="30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83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0,00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0,01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0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3,32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3,34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7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4,43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4,45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2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5,54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5,56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51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6,65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6,67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34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1,21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1,23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7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6,65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19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8,76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8,89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16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9,87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9,90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86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7,76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7,78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4904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Mean Squared Error (MSE)</a:t>
                      </a: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Rata-</a:t>
                      </a:r>
                      <a:r>
                        <a:rPr lang="en-US" sz="1200" dirty="0" err="1"/>
                        <a:t>ratakan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angka</a:t>
                      </a:r>
                      <a:r>
                        <a:rPr lang="en-US" sz="1200" dirty="0"/>
                        <a:t> SE pada </a:t>
                      </a:r>
                      <a:r>
                        <a:rPr lang="en-US" sz="1200" dirty="0" err="1"/>
                        <a:t>seluruh</a:t>
                      </a:r>
                      <a:r>
                        <a:rPr lang="en-US" sz="1200" dirty="0"/>
                        <a:t> baris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86215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Root Mean Squared Error (RMSE)</a:t>
                      </a: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F0"/>
                          </a:solidFill>
                        </a:rPr>
                        <a:t>Akarkan</a:t>
                      </a:r>
                      <a:endParaRPr lang="en-ID" sz="12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696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71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54442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Menghitung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RMSE pada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Berbagai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endParaRPr lang="en-US" sz="4000" b="1" i="1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FA083D-A3C0-B967-2C50-4D357E2BC475}"/>
              </a:ext>
            </a:extLst>
          </p:cNvPr>
          <p:cNvSpPr txBox="1">
            <a:spLocks/>
          </p:cNvSpPr>
          <p:nvPr/>
        </p:nvSpPr>
        <p:spPr>
          <a:xfrm>
            <a:off x="457200" y="1297287"/>
            <a:ext cx="10823028" cy="51194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Simpulkan</a:t>
            </a: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Model mana yang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merupakan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pemecahan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masalah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terbaik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untuk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kasus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tersebut</a:t>
            </a: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 algn="just">
              <a:buFontTx/>
              <a:buChar char="-"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5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1100301" y="1901028"/>
            <a:ext cx="99913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200" dirty="0" err="1"/>
              <a:t>Terima</a:t>
            </a:r>
            <a:r>
              <a:rPr lang="en-US" altLang="ja-JP" sz="3200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36127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3946</TotalTime>
  <Words>671</Words>
  <Application>Microsoft Office PowerPoint</Application>
  <PresentationFormat>Widescreen</PresentationFormat>
  <Paragraphs>239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Nasucha</dc:creator>
  <cp:lastModifiedBy>Mohammad Nasucha</cp:lastModifiedBy>
  <cp:revision>79</cp:revision>
  <dcterms:created xsi:type="dcterms:W3CDTF">2020-07-22T03:16:03Z</dcterms:created>
  <dcterms:modified xsi:type="dcterms:W3CDTF">2026-07-02T09:51:11Z</dcterms:modified>
</cp:coreProperties>
</file>
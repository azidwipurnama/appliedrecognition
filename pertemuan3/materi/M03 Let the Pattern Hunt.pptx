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44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27B4E-09AE-4BBF-83C5-31049C21F2FA}" v="3" dt="2026-07-02T10:10:55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3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Nasucha" userId="1346f31b-a737-4b43-93e0-d502aa96fb32" providerId="ADAL" clId="{6CA37AF1-0D44-4291-9791-E8FB1D006563}"/>
    <pc:docChg chg="undo custSel addSld delSld modSld">
      <pc:chgData name="Mohammad Nasucha" userId="1346f31b-a737-4b43-93e0-d502aa96fb32" providerId="ADAL" clId="{6CA37AF1-0D44-4291-9791-E8FB1D006563}" dt="2026-07-02T10:36:13.548" v="299" actId="47"/>
      <pc:docMkLst>
        <pc:docMk/>
      </pc:docMkLst>
      <pc:sldChg chg="del">
        <pc:chgData name="Mohammad Nasucha" userId="1346f31b-a737-4b43-93e0-d502aa96fb32" providerId="ADAL" clId="{6CA37AF1-0D44-4291-9791-E8FB1D006563}" dt="2026-07-02T10:08:35.409" v="1" actId="47"/>
        <pc:sldMkLst>
          <pc:docMk/>
          <pc:sldMk cId="0" sldId="256"/>
        </pc:sldMkLst>
      </pc:sldChg>
      <pc:sldChg chg="delSp modSp mod">
        <pc:chgData name="Mohammad Nasucha" userId="1346f31b-a737-4b43-93e0-d502aa96fb32" providerId="ADAL" clId="{6CA37AF1-0D44-4291-9791-E8FB1D006563}" dt="2026-07-02T10:11:31.232" v="88" actId="255"/>
        <pc:sldMkLst>
          <pc:docMk/>
          <pc:sldMk cId="0" sldId="257"/>
        </pc:sldMkLst>
        <pc:spChg chg="del">
          <ac:chgData name="Mohammad Nasucha" userId="1346f31b-a737-4b43-93e0-d502aa96fb32" providerId="ADAL" clId="{6CA37AF1-0D44-4291-9791-E8FB1D006563}" dt="2026-07-02T10:08:56.763" v="47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1:31.232" v="88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1:20.975" v="86" actId="1076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Mohammad Nasucha" userId="1346f31b-a737-4b43-93e0-d502aa96fb32" providerId="ADAL" clId="{6CA37AF1-0D44-4291-9791-E8FB1D006563}" dt="2026-07-02T10:12:04.599" v="105" actId="20577"/>
        <pc:sldMkLst>
          <pc:docMk/>
          <pc:sldMk cId="0" sldId="258"/>
        </pc:sldMkLst>
        <pc:spChg chg="del">
          <ac:chgData name="Mohammad Nasucha" userId="1346f31b-a737-4b43-93e0-d502aa96fb32" providerId="ADAL" clId="{6CA37AF1-0D44-4291-9791-E8FB1D006563}" dt="2026-07-02T10:09:27.860" v="51" actId="478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Mohammad Nasucha" userId="1346f31b-a737-4b43-93e0-d502aa96fb32" providerId="ADAL" clId="{6CA37AF1-0D44-4291-9791-E8FB1D006563}" dt="2026-07-02T10:11:41.538" v="90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2:04.599" v="105" actId="20577"/>
          <ac:spMkLst>
            <pc:docMk/>
            <pc:sldMk cId="0" sldId="258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12:47.724" v="110" actId="207"/>
        <pc:sldMkLst>
          <pc:docMk/>
          <pc:sldMk cId="0" sldId="259"/>
        </pc:sldMkLst>
        <pc:spChg chg="del">
          <ac:chgData name="Mohammad Nasucha" userId="1346f31b-a737-4b43-93e0-d502aa96fb32" providerId="ADAL" clId="{6CA37AF1-0D44-4291-9791-E8FB1D006563}" dt="2026-07-02T10:12:25.718" v="106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2:47.724" v="110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2:40.819" v="108" actId="1076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">
        <pc:chgData name="Mohammad Nasucha" userId="1346f31b-a737-4b43-93e0-d502aa96fb32" providerId="ADAL" clId="{6CA37AF1-0D44-4291-9791-E8FB1D006563}" dt="2026-07-02T10:13:49.444" v="120" actId="14100"/>
        <pc:sldMkLst>
          <pc:docMk/>
          <pc:sldMk cId="0" sldId="260"/>
        </pc:sldMkLst>
        <pc:spChg chg="del">
          <ac:chgData name="Mohammad Nasucha" userId="1346f31b-a737-4b43-93e0-d502aa96fb32" providerId="ADAL" clId="{6CA37AF1-0D44-4291-9791-E8FB1D006563}" dt="2026-07-02T10:13:18.651" v="114" actId="478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Mohammad Nasucha" userId="1346f31b-a737-4b43-93e0-d502aa96fb32" providerId="ADAL" clId="{6CA37AF1-0D44-4291-9791-E8FB1D006563}" dt="2026-07-02T10:13:38.885" v="118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3:49.444" v="120" actId="14100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14:28.679" v="126" actId="255"/>
        <pc:sldMkLst>
          <pc:docMk/>
          <pc:sldMk cId="0" sldId="261"/>
        </pc:sldMkLst>
        <pc:spChg chg="del">
          <ac:chgData name="Mohammad Nasucha" userId="1346f31b-a737-4b43-93e0-d502aa96fb32" providerId="ADAL" clId="{6CA37AF1-0D44-4291-9791-E8FB1D006563}" dt="2026-07-02T10:14:10.461" v="12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4:18.092" v="124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14:28.679" v="126" actId="255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25:26.924" v="171" actId="20577"/>
        <pc:sldMkLst>
          <pc:docMk/>
          <pc:sldMk cId="0" sldId="262"/>
        </pc:sldMkLst>
        <pc:spChg chg="mod">
          <ac:chgData name="Mohammad Nasucha" userId="1346f31b-a737-4b43-93e0-d502aa96fb32" providerId="ADAL" clId="{6CA37AF1-0D44-4291-9791-E8FB1D006563}" dt="2026-07-02T10:23:40.794" v="139" actId="113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ohammad Nasucha" userId="1346f31b-a737-4b43-93e0-d502aa96fb32" providerId="ADAL" clId="{6CA37AF1-0D44-4291-9791-E8FB1D006563}" dt="2026-07-02T10:22:57.680" v="130"/>
          <ac:spMkLst>
            <pc:docMk/>
            <pc:sldMk cId="0" sldId="262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25:26.924" v="171" actId="20577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30:51.178" v="181" actId="1076"/>
        <pc:sldMkLst>
          <pc:docMk/>
          <pc:sldMk cId="0" sldId="263"/>
        </pc:sldMkLst>
        <pc:spChg chg="mod">
          <ac:chgData name="Mohammad Nasucha" userId="1346f31b-a737-4b43-93e0-d502aa96fb32" providerId="ADAL" clId="{6CA37AF1-0D44-4291-9791-E8FB1D006563}" dt="2026-07-02T10:30:47.467" v="180" actId="113"/>
          <ac:spMkLst>
            <pc:docMk/>
            <pc:sldMk cId="0" sldId="263"/>
            <ac:spMk id="2" creationId="{00000000-0000-0000-0000-000000000000}"/>
          </ac:spMkLst>
        </pc:spChg>
        <pc:spChg chg="del">
          <ac:chgData name="Mohammad Nasucha" userId="1346f31b-a737-4b43-93e0-d502aa96fb32" providerId="ADAL" clId="{6CA37AF1-0D44-4291-9791-E8FB1D006563}" dt="2026-07-02T10:30:23.037" v="173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30:51.178" v="181" actId="1076"/>
          <ac:spMkLst>
            <pc:docMk/>
            <pc:sldMk cId="0" sldId="263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31:32.715" v="189" actId="1076"/>
        <pc:sldMkLst>
          <pc:docMk/>
          <pc:sldMk cId="0" sldId="264"/>
        </pc:sldMkLst>
        <pc:spChg chg="mod">
          <ac:chgData name="Mohammad Nasucha" userId="1346f31b-a737-4b43-93e0-d502aa96fb32" providerId="ADAL" clId="{6CA37AF1-0D44-4291-9791-E8FB1D006563}" dt="2026-07-02T10:31:29.295" v="188" actId="113"/>
          <ac:spMkLst>
            <pc:docMk/>
            <pc:sldMk cId="0" sldId="264"/>
            <ac:spMk id="2" creationId="{00000000-0000-0000-0000-000000000000}"/>
          </ac:spMkLst>
        </pc:spChg>
        <pc:spChg chg="del">
          <ac:chgData name="Mohammad Nasucha" userId="1346f31b-a737-4b43-93e0-d502aa96fb32" providerId="ADAL" clId="{6CA37AF1-0D44-4291-9791-E8FB1D006563}" dt="2026-07-02T10:31:11.225" v="183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31:32.715" v="189" actId="1076"/>
          <ac:spMkLst>
            <pc:docMk/>
            <pc:sldMk cId="0" sldId="264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32:12.303" v="194" actId="1076"/>
        <pc:sldMkLst>
          <pc:docMk/>
          <pc:sldMk cId="0" sldId="265"/>
        </pc:sldMkLst>
        <pc:spChg chg="mod">
          <ac:chgData name="Mohammad Nasucha" userId="1346f31b-a737-4b43-93e0-d502aa96fb32" providerId="ADAL" clId="{6CA37AF1-0D44-4291-9791-E8FB1D006563}" dt="2026-07-02T10:32:09.528" v="193" actId="14100"/>
          <ac:spMkLst>
            <pc:docMk/>
            <pc:sldMk cId="0" sldId="265"/>
            <ac:spMk id="2" creationId="{00000000-0000-0000-0000-000000000000}"/>
          </ac:spMkLst>
        </pc:spChg>
        <pc:spChg chg="del">
          <ac:chgData name="Mohammad Nasucha" userId="1346f31b-a737-4b43-93e0-d502aa96fb32" providerId="ADAL" clId="{6CA37AF1-0D44-4291-9791-E8FB1D006563}" dt="2026-07-02T10:31:55.154" v="191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32:12.303" v="194" actId="1076"/>
          <ac:spMkLst>
            <pc:docMk/>
            <pc:sldMk cId="0" sldId="265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33:35.844" v="231" actId="20577"/>
        <pc:sldMkLst>
          <pc:docMk/>
          <pc:sldMk cId="0" sldId="266"/>
        </pc:sldMkLst>
        <pc:spChg chg="mod">
          <ac:chgData name="Mohammad Nasucha" userId="1346f31b-a737-4b43-93e0-d502aa96fb32" providerId="ADAL" clId="{6CA37AF1-0D44-4291-9791-E8FB1D006563}" dt="2026-07-02T10:32:18.603" v="195" actId="108"/>
          <ac:spMkLst>
            <pc:docMk/>
            <pc:sldMk cId="0" sldId="266"/>
            <ac:spMk id="2" creationId="{00000000-0000-0000-0000-000000000000}"/>
          </ac:spMkLst>
        </pc:spChg>
        <pc:spChg chg="del">
          <ac:chgData name="Mohammad Nasucha" userId="1346f31b-a737-4b43-93e0-d502aa96fb32" providerId="ADAL" clId="{6CA37AF1-0D44-4291-9791-E8FB1D006563}" dt="2026-07-02T10:32:29.635" v="197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33:35.844" v="231" actId="20577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34:17.100" v="234" actId="478"/>
        <pc:sldMkLst>
          <pc:docMk/>
          <pc:sldMk cId="0" sldId="267"/>
        </pc:sldMkLst>
        <pc:spChg chg="mod">
          <ac:chgData name="Mohammad Nasucha" userId="1346f31b-a737-4b43-93e0-d502aa96fb32" providerId="ADAL" clId="{6CA37AF1-0D44-4291-9791-E8FB1D006563}" dt="2026-07-02T10:34:08.327" v="232" actId="108"/>
          <ac:spMkLst>
            <pc:docMk/>
            <pc:sldMk cId="0" sldId="267"/>
            <ac:spMk id="2" creationId="{00000000-0000-0000-0000-000000000000}"/>
          </ac:spMkLst>
        </pc:spChg>
        <pc:spChg chg="del">
          <ac:chgData name="Mohammad Nasucha" userId="1346f31b-a737-4b43-93e0-d502aa96fb32" providerId="ADAL" clId="{6CA37AF1-0D44-4291-9791-E8FB1D006563}" dt="2026-07-02T10:34:17.100" v="234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34:12.648" v="233" actId="1076"/>
          <ac:spMkLst>
            <pc:docMk/>
            <pc:sldMk cId="0" sldId="267"/>
            <ac:spMk id="4" creationId="{00000000-0000-0000-0000-000000000000}"/>
          </ac:spMkLst>
        </pc:spChg>
      </pc:sldChg>
      <pc:sldChg chg="delSp modSp mod">
        <pc:chgData name="Mohammad Nasucha" userId="1346f31b-a737-4b43-93e0-d502aa96fb32" providerId="ADAL" clId="{6CA37AF1-0D44-4291-9791-E8FB1D006563}" dt="2026-07-02T10:35:56.626" v="297" actId="6549"/>
        <pc:sldMkLst>
          <pc:docMk/>
          <pc:sldMk cId="0" sldId="268"/>
        </pc:sldMkLst>
        <pc:spChg chg="mod">
          <ac:chgData name="Mohammad Nasucha" userId="1346f31b-a737-4b43-93e0-d502aa96fb32" providerId="ADAL" clId="{6CA37AF1-0D44-4291-9791-E8FB1D006563}" dt="2026-07-02T10:35:13.907" v="236" actId="108"/>
          <ac:spMkLst>
            <pc:docMk/>
            <pc:sldMk cId="0" sldId="268"/>
            <ac:spMk id="2" creationId="{00000000-0000-0000-0000-000000000000}"/>
          </ac:spMkLst>
        </pc:spChg>
        <pc:spChg chg="del">
          <ac:chgData name="Mohammad Nasucha" userId="1346f31b-a737-4b43-93e0-d502aa96fb32" providerId="ADAL" clId="{6CA37AF1-0D44-4291-9791-E8FB1D006563}" dt="2026-07-02T10:35:21.181" v="237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Mohammad Nasucha" userId="1346f31b-a737-4b43-93e0-d502aa96fb32" providerId="ADAL" clId="{6CA37AF1-0D44-4291-9791-E8FB1D006563}" dt="2026-07-02T10:35:56.626" v="297" actId="6549"/>
          <ac:spMkLst>
            <pc:docMk/>
            <pc:sldMk cId="0" sldId="268"/>
            <ac:spMk id="4" creationId="{00000000-0000-0000-0000-000000000000}"/>
          </ac:spMkLst>
        </pc:spChg>
      </pc:sldChg>
      <pc:sldChg chg="del">
        <pc:chgData name="Mohammad Nasucha" userId="1346f31b-a737-4b43-93e0-d502aa96fb32" providerId="ADAL" clId="{6CA37AF1-0D44-4291-9791-E8FB1D006563}" dt="2026-07-02T10:36:06.678" v="298" actId="47"/>
        <pc:sldMkLst>
          <pc:docMk/>
          <pc:sldMk cId="0" sldId="269"/>
        </pc:sldMkLst>
      </pc:sldChg>
      <pc:sldChg chg="del">
        <pc:chgData name="Mohammad Nasucha" userId="1346f31b-a737-4b43-93e0-d502aa96fb32" providerId="ADAL" clId="{6CA37AF1-0D44-4291-9791-E8FB1D006563}" dt="2026-07-02T10:36:13.548" v="299" actId="47"/>
        <pc:sldMkLst>
          <pc:docMk/>
          <pc:sldMk cId="0" sldId="270"/>
        </pc:sldMkLst>
      </pc:sldChg>
      <pc:sldChg chg="add">
        <pc:chgData name="Mohammad Nasucha" userId="1346f31b-a737-4b43-93e0-d502aa96fb32" providerId="ADAL" clId="{6CA37AF1-0D44-4291-9791-E8FB1D006563}" dt="2026-07-02T10:08:24.497" v="0"/>
        <pc:sldMkLst>
          <pc:docMk/>
          <pc:sldMk cId="3113719772" sldId="303"/>
        </pc:sldMkLst>
      </pc:sldChg>
      <pc:sldChg chg="modSp add mod">
        <pc:chgData name="Mohammad Nasucha" userId="1346f31b-a737-4b43-93e0-d502aa96fb32" providerId="ADAL" clId="{6CA37AF1-0D44-4291-9791-E8FB1D006563}" dt="2026-07-02T10:08:50.101" v="46" actId="6549"/>
        <pc:sldMkLst>
          <pc:docMk/>
          <pc:sldMk cId="3426101117" sldId="440"/>
        </pc:sldMkLst>
        <pc:spChg chg="mod">
          <ac:chgData name="Mohammad Nasucha" userId="1346f31b-a737-4b43-93e0-d502aa96fb32" providerId="ADAL" clId="{6CA37AF1-0D44-4291-9791-E8FB1D006563}" dt="2026-07-02T10:08:50.101" v="46" actId="6549"/>
          <ac:spMkLst>
            <pc:docMk/>
            <pc:sldMk cId="3426101117" sldId="44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37002" y="4259813"/>
            <a:ext cx="6215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Mohammad Nasucha, S.T., M.Sc., Ph.D.</a:t>
            </a:r>
            <a:endParaRPr lang="id-ID" sz="2400" b="1" dirty="0"/>
          </a:p>
          <a:p>
            <a:pPr algn="ctr"/>
            <a:endParaRPr lang="id-ID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20659" y="5050621"/>
            <a:ext cx="4648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Program </a:t>
            </a:r>
            <a:r>
              <a:rPr lang="en-US" sz="1600" b="1" dirty="0" err="1"/>
              <a:t>Studi</a:t>
            </a:r>
            <a:r>
              <a:rPr lang="en-US" sz="1600" b="1" dirty="0"/>
              <a:t> </a:t>
            </a:r>
            <a:r>
              <a:rPr lang="en-US" sz="1600" b="1" dirty="0" err="1"/>
              <a:t>Teknik</a:t>
            </a:r>
            <a:r>
              <a:rPr lang="en-US" sz="1600" b="1" dirty="0"/>
              <a:t> </a:t>
            </a:r>
            <a:r>
              <a:rPr lang="en-US" sz="1600" b="1" dirty="0" err="1"/>
              <a:t>Informatika</a:t>
            </a:r>
            <a:endParaRPr lang="en-US" sz="1600" b="1" dirty="0"/>
          </a:p>
          <a:p>
            <a:pPr algn="ctr"/>
            <a:r>
              <a:rPr lang="en-US" sz="1600" b="1" dirty="0" err="1"/>
              <a:t>Universitas</a:t>
            </a:r>
            <a:r>
              <a:rPr lang="en-US" sz="1600" b="1" dirty="0"/>
              <a:t> Pembangunan Jaya</a:t>
            </a:r>
            <a:endParaRPr lang="id-ID" sz="1600" b="1" dirty="0"/>
          </a:p>
          <a:p>
            <a:pPr algn="ctr"/>
            <a:r>
              <a:rPr lang="en-US" sz="1600" b="1" dirty="0"/>
              <a:t>Jl. </a:t>
            </a:r>
            <a:r>
              <a:rPr lang="en-US" sz="1600" b="1" dirty="0" err="1"/>
              <a:t>Cendrawasih</a:t>
            </a:r>
            <a:r>
              <a:rPr lang="en-US" sz="1600" b="1" dirty="0"/>
              <a:t>, </a:t>
            </a:r>
            <a:r>
              <a:rPr lang="en-US" sz="1600" b="1" dirty="0" err="1"/>
              <a:t>Sawah</a:t>
            </a:r>
            <a:r>
              <a:rPr lang="en-US" sz="1600" b="1" dirty="0"/>
              <a:t> </a:t>
            </a:r>
            <a:r>
              <a:rPr lang="en-US" sz="1600" b="1" dirty="0" err="1"/>
              <a:t>Baru</a:t>
            </a:r>
            <a:r>
              <a:rPr lang="en-US" sz="1600" b="1" dirty="0"/>
              <a:t>, </a:t>
            </a:r>
            <a:r>
              <a:rPr lang="en-US" sz="1600" b="1" dirty="0" err="1"/>
              <a:t>Bintaro</a:t>
            </a:r>
            <a:r>
              <a:rPr lang="en-US" sz="1600" b="1" dirty="0"/>
              <a:t> Jaya</a:t>
            </a:r>
          </a:p>
          <a:p>
            <a:pPr algn="ctr"/>
            <a:r>
              <a:rPr lang="en-US" sz="1600" b="1" dirty="0"/>
              <a:t>Tangerang Selatan</a:t>
            </a:r>
            <a:endParaRPr lang="id-ID" sz="1600" b="1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707225" y="627685"/>
            <a:ext cx="9875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Applied Pattern Recognition</a:t>
            </a:r>
            <a:endParaRPr lang="en-US" sz="6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47666-9379-4BEE-9E25-DCD10A1935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51264" y="5205744"/>
            <a:ext cx="1685925" cy="149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1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M03 Let the Pattern Hunt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10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35231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00B0F0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00962"/>
            <a:ext cx="10022744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ID" sz="3200" dirty="0"/>
              <a:t>• </a:t>
            </a:r>
            <a:r>
              <a:rPr sz="3200" dirty="0"/>
              <a:t>Define pattern recognition </a:t>
            </a:r>
            <a:r>
              <a:rPr lang="en-US" sz="3200" dirty="0"/>
              <a:t>.</a:t>
            </a:r>
          </a:p>
          <a:p>
            <a:pPr>
              <a:defRPr sz="2200"/>
            </a:pPr>
            <a:r>
              <a:rPr lang="en-ID" sz="3200" dirty="0"/>
              <a:t>• </a:t>
            </a:r>
            <a:r>
              <a:rPr sz="3200" dirty="0"/>
              <a:t>Explain why AI is essentially pattern recognition</a:t>
            </a:r>
            <a:r>
              <a:rPr lang="en-US" sz="3200" dirty="0"/>
              <a:t>.</a:t>
            </a:r>
            <a:br>
              <a:rPr sz="3200" dirty="0"/>
            </a:br>
            <a:r>
              <a:rPr sz="3200" dirty="0"/>
              <a:t>• Compare rule-based programming and machine learning</a:t>
            </a:r>
            <a:r>
              <a:rPr lang="en-US" sz="3200" dirty="0"/>
              <a:t>.</a:t>
            </a:r>
            <a:br>
              <a:rPr sz="3200" dirty="0"/>
            </a:br>
            <a:r>
              <a:rPr sz="3200" dirty="0"/>
              <a:t>• Explain how computers learn from examples</a:t>
            </a:r>
            <a:r>
              <a:rPr lang="en-US" sz="3200" dirty="0"/>
              <a:t>.</a:t>
            </a:r>
            <a:br>
              <a:rPr sz="3200" dirty="0"/>
            </a:br>
            <a:r>
              <a:rPr sz="3200" dirty="0"/>
              <a:t>• Identify industrial applications</a:t>
            </a:r>
            <a:r>
              <a:rPr lang="en-US" sz="3200" dirty="0"/>
              <a:t>.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6720" y="220630"/>
            <a:ext cx="38829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00B0F0"/>
                </a:solidFill>
              </a:rPr>
              <a:t>Why AI Is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20" y="1333850"/>
            <a:ext cx="7244868" cy="35394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rPr lang="en-US" sz="3200" dirty="0"/>
              <a:t>AI p</a:t>
            </a:r>
            <a:r>
              <a:rPr sz="3200" dirty="0"/>
              <a:t>owers:</a:t>
            </a:r>
            <a:br>
              <a:rPr sz="3200" dirty="0"/>
            </a:br>
            <a:r>
              <a:rPr sz="3200" dirty="0"/>
              <a:t>• Computer vision</a:t>
            </a:r>
            <a:br>
              <a:rPr sz="3200" dirty="0"/>
            </a:br>
            <a:r>
              <a:rPr sz="3200" dirty="0"/>
              <a:t>• Speech recognition</a:t>
            </a:r>
            <a:br>
              <a:rPr sz="3200" dirty="0"/>
            </a:br>
            <a:r>
              <a:rPr sz="3200" dirty="0"/>
              <a:t>• Language translation</a:t>
            </a:r>
            <a:br>
              <a:rPr sz="3200" dirty="0"/>
            </a:br>
            <a:r>
              <a:rPr sz="3200" dirty="0"/>
              <a:t>• Autonomous robots</a:t>
            </a:r>
            <a:br>
              <a:rPr sz="3200" dirty="0"/>
            </a:br>
            <a:br>
              <a:rPr sz="3200" dirty="0"/>
            </a:br>
            <a:r>
              <a:rPr sz="3200" dirty="0"/>
              <a:t>Common foundation: Pattern Recognition.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33171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00B0F0"/>
                </a:solidFill>
              </a:rPr>
              <a:t>What Is a Pattern?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454" y="1090569"/>
            <a:ext cx="11147091" cy="40318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rPr sz="3200" dirty="0"/>
              <a:t>A pattern is a regularity or structure repeatedly appearing in data.</a:t>
            </a:r>
            <a:br>
              <a:rPr sz="3200" dirty="0"/>
            </a:br>
            <a:br>
              <a:rPr sz="3200" dirty="0"/>
            </a:br>
            <a:r>
              <a:rPr sz="3200" dirty="0"/>
              <a:t>Examples:</a:t>
            </a:r>
            <a:br>
              <a:rPr sz="3200" dirty="0"/>
            </a:br>
            <a:r>
              <a:rPr sz="3200" dirty="0"/>
              <a:t>• Faces in images</a:t>
            </a:r>
            <a:br>
              <a:rPr sz="3200" dirty="0"/>
            </a:br>
            <a:r>
              <a:rPr sz="3200" dirty="0"/>
              <a:t>• Spoken words</a:t>
            </a:r>
            <a:br>
              <a:rPr sz="3200" dirty="0"/>
            </a:br>
            <a:r>
              <a:rPr sz="3200" dirty="0"/>
              <a:t>• ECG signals</a:t>
            </a:r>
            <a:br>
              <a:rPr sz="3200" dirty="0"/>
            </a:br>
            <a:r>
              <a:rPr sz="3200" dirty="0"/>
              <a:t>• Fraudulent transactions</a:t>
            </a:r>
            <a:br>
              <a:rPr sz="3200" dirty="0"/>
            </a:br>
            <a:r>
              <a:rPr sz="3200" dirty="0"/>
              <a:t>• Product defects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39" y="274320"/>
            <a:ext cx="67581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00B0F0"/>
                </a:solidFill>
              </a:rPr>
              <a:t>Human Pattern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97858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/>
            </a:pPr>
            <a:r>
              <a:rPr sz="3200" dirty="0"/>
              <a:t>Humans naturally recognize people, objects, voices, and situations through experience.</a:t>
            </a:r>
            <a:br>
              <a:rPr sz="3200" dirty="0"/>
            </a:br>
            <a:br>
              <a:rPr sz="3200" dirty="0"/>
            </a:br>
            <a:r>
              <a:rPr sz="3200" dirty="0"/>
              <a:t>Machine learning attempts to mimic this capability using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70517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3200" dirty="0">
                <a:solidFill>
                  <a:srgbClr val="00B0F0"/>
                </a:solidFill>
              </a:rPr>
              <a:t>Traditional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9241" y="1342238"/>
            <a:ext cx="7879914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rPr sz="3200" dirty="0"/>
              <a:t>Human writes explicit rules.</a:t>
            </a:r>
            <a:br>
              <a:rPr sz="3200" dirty="0"/>
            </a:br>
            <a:br>
              <a:rPr sz="3200" dirty="0"/>
            </a:br>
            <a:r>
              <a:rPr sz="3200" dirty="0"/>
              <a:t>Example:</a:t>
            </a:r>
            <a:br>
              <a:rPr sz="3200" dirty="0"/>
            </a:br>
            <a:r>
              <a:rPr sz="3200" dirty="0"/>
              <a:t>IF temperature &gt; 100°C THEN Alarm = ON</a:t>
            </a:r>
            <a:br>
              <a:rPr sz="3200" dirty="0"/>
            </a:br>
            <a:br>
              <a:rPr sz="3200" dirty="0"/>
            </a:br>
            <a:r>
              <a:rPr sz="3200" dirty="0"/>
              <a:t>Works well when rules are known and limited.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0705"/>
          </a:xfrm>
        </p:spPr>
        <p:txBody>
          <a:bodyPr>
            <a:noAutofit/>
          </a:bodyPr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sz="3200" b="1" dirty="0">
                <a:solidFill>
                  <a:srgbClr val="00B0F0"/>
                </a:solidFill>
                <a:latin typeface="+mn-lt"/>
              </a:rPr>
              <a:t>Traditional Programming vs.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1295"/>
            <a:ext cx="8173007" cy="3108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</a:defRPr>
            </a:pPr>
            <a:r>
              <a:rPr dirty="0"/>
              <a:t>Traditional Programming</a:t>
            </a:r>
            <a:r>
              <a:rPr lang="en-US" dirty="0"/>
              <a:t> (Why It Fails for Today Needs)</a:t>
            </a:r>
            <a:endParaRPr dirty="0"/>
          </a:p>
          <a:p>
            <a:pPr>
              <a:defRPr sz="2800">
                <a:solidFill>
                  <a:srgbClr val="000000"/>
                </a:solidFill>
              </a:defRPr>
            </a:pPr>
            <a:r>
              <a:rPr dirty="0"/>
              <a:t>• Human writes explicit rules.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rPr dirty="0"/>
              <a:t>• Computer executes the rules exactly.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endParaRPr dirty="0"/>
          </a:p>
          <a:p>
            <a:pPr>
              <a:defRPr sz="2800">
                <a:solidFill>
                  <a:srgbClr val="000000"/>
                </a:solidFill>
              </a:defRPr>
            </a:pPr>
            <a:r>
              <a:rPr dirty="0"/>
              <a:t>Machine Learning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rPr dirty="0"/>
              <a:t>• Humans provide labeled examples.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rPr dirty="0"/>
              <a:t>• The computer learns the rules from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5872"/>
          </a:xfrm>
        </p:spPr>
        <p:txBody>
          <a:bodyPr>
            <a:noAutofit/>
          </a:bodyPr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sz="3200" b="1" dirty="0">
                <a:solidFill>
                  <a:srgbClr val="00B0F0"/>
                </a:solidFill>
                <a:latin typeface="+mn-lt"/>
              </a:rPr>
              <a:t>Pattern Recognition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056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rPr dirty="0"/>
              <a:t>1. Data Collection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2. Data Preprocessing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3. Feature Extraction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4. Model Learning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5. Classification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6.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0096"/>
          </a:xfrm>
        </p:spPr>
        <p:txBody>
          <a:bodyPr/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b="1" dirty="0">
                <a:solidFill>
                  <a:srgbClr val="00B0F0"/>
                </a:solidFill>
                <a:latin typeface="+mn-lt"/>
              </a:rPr>
              <a:t>Applications of Pattern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9842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rPr dirty="0"/>
              <a:t>• Medical diagnosis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Face recognition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Voice assistants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Industrial quality inspection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Autonomous vehicles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Predictive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6206"/>
          </a:xfrm>
        </p:spPr>
        <p:txBody>
          <a:bodyPr/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sz="3200" b="1" dirty="0">
                <a:solidFill>
                  <a:srgbClr val="00B0F0"/>
                </a:solidFill>
                <a:latin typeface="+mn-lt"/>
              </a:rPr>
              <a:t>Computing Power and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4183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rPr dirty="0"/>
              <a:t>Modern AI has advanced because of: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Faster CPUs and GPUs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Cloud computing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Massive datasets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More efficient learning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sz="3200" b="1" dirty="0">
                <a:solidFill>
                  <a:srgbClr val="00B0F0"/>
                </a:solidFill>
                <a:latin typeface="+mn-lt"/>
              </a:rPr>
              <a:t>Case Study: Waste Sorting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6997"/>
            <a:ext cx="868092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rPr dirty="0"/>
              <a:t>Camera captures waste image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↓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AI recognizes the object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↓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Robot sorts plastic, paper, glass, </a:t>
            </a:r>
            <a:r>
              <a:rPr lang="en-US" dirty="0"/>
              <a:t>and </a:t>
            </a:r>
            <a:r>
              <a:rPr dirty="0"/>
              <a:t>metal</a:t>
            </a:r>
            <a:r>
              <a:rPr lang="en-US" dirty="0"/>
              <a:t> can.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sz="3200" b="1" dirty="0">
                <a:solidFill>
                  <a:srgbClr val="00B0F0"/>
                </a:solidFill>
                <a:latin typeface="+mn-lt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02965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rPr dirty="0"/>
              <a:t>• Limited training data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Noisy data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Dataset bias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Overfitting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Dynamic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0">
                <a:solidFill>
                  <a:srgbClr val="5B9BD5"/>
                </a:solidFill>
              </a:defRPr>
            </a:pPr>
            <a:r>
              <a:rPr sz="3200" b="1" dirty="0">
                <a:solidFill>
                  <a:srgbClr val="00B0F0"/>
                </a:solidFill>
                <a:latin typeface="+mn-lt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28132"/>
            <a:ext cx="1057821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rPr dirty="0"/>
              <a:t>• </a:t>
            </a:r>
            <a:r>
              <a:rPr lang="en-US" dirty="0"/>
              <a:t>Machine Learning, </a:t>
            </a:r>
            <a:r>
              <a:rPr dirty="0"/>
              <a:t>AI </a:t>
            </a:r>
            <a:r>
              <a:rPr lang="en-US" dirty="0"/>
              <a:t>are</a:t>
            </a:r>
            <a:r>
              <a:rPr dirty="0"/>
              <a:t> fundamentally pattern recognition.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Good data leads to better models.</a:t>
            </a:r>
          </a:p>
          <a:p>
            <a:pPr>
              <a:defRPr sz="3200">
                <a:solidFill>
                  <a:srgbClr val="000000"/>
                </a:solidFill>
              </a:defRPr>
            </a:pPr>
            <a:r>
              <a:rPr dirty="0"/>
              <a:t>• Pattern recognition enables intelligent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408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Traditional Programming vs. Machine Learning</vt:lpstr>
      <vt:lpstr>Pattern Recognition Pipeline</vt:lpstr>
      <vt:lpstr>Applications of Pattern Recognition</vt:lpstr>
      <vt:lpstr>Computing Power and AI</vt:lpstr>
      <vt:lpstr>Case Study: Waste Sorting Robot</vt:lpstr>
      <vt:lpstr>Challenges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Nasucha</cp:lastModifiedBy>
  <cp:revision>1</cp:revision>
  <dcterms:created xsi:type="dcterms:W3CDTF">2013-01-27T09:14:16Z</dcterms:created>
  <dcterms:modified xsi:type="dcterms:W3CDTF">2026-07-02T10:36:23Z</dcterms:modified>
  <cp:category/>
</cp:coreProperties>
</file>